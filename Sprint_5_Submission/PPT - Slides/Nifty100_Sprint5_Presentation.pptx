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c19360c-d4c3-5569-0ca4-475a12673e79}">
          <p14:sldIdLst>
            <p14:sldId id="256"/>
          </p14:sldIdLst>
        </p14:section>
        <p14:section name="Intelligence" id="{75324e5f-6ffa-5f3d-c465-4e639cf1a2c9}">
          <p14:sldIdLst>
            <p14:sldId id="257"/>
            <p14:sldId id="258"/>
            <p14:sldId id="259"/>
          </p14:sldIdLst>
        </p14:section>
        <p14:section name="Reports" id="{ba7a2791-577f-0df1-b712-8dcd7f62a225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5: NLP commentary parsing, auto pros/cons, cash flow intelligence and automated PDF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components: NLP parser, pros/cons rules engine, cash flow KPIs, and the reporting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Regex extracts 'N Years: X%' patterns. 60 valid records parsed; 17 anomalies logged to parse_failures.csv.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592 signals across 92 companies; every company has at least one Pro and one 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Distress = CFO negative while financing inflows are positive: 13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 generation: 92 tearsheets, 11 sector reports, and a 92-page portfolio summary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exit criteria met; artifacts packaged in Sprint_5_Submission/.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SPRINT 5  ·  DAYS 29–35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Nifty 100 Financial Intelligence — Sprint 5 Delivery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Natural Language Processing, Cash Flow Intelligence &amp; Automated PDF Tearsheets</a:t>
            </a:r>
            <a:endParaRPr lang="en-US" sz="1800" dirty="0"/>
          </a:p>
        </p:txBody>
      </p:sp>
      <p:sp>
        <p:nvSpPr>
          <p:cNvPr id="5" name="Presenter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Engineering &amp; Quantitative Analytics Team  ·  Bluestock Mutual Fund Analytics Division</a:t>
            </a:r>
            <a:endParaRPr lang="en-US" sz="1300" dirty="0"/>
          </a:p>
        </p:txBody>
      </p:sp>
      <p:sp>
        <p:nvSpPr>
          <p:cNvPr id="6" name="Motif 0"/>
          <p:cNvSpPr/>
          <p:nvPr/>
        </p:nvSpPr>
        <p:spPr>
          <a:xfrm>
            <a:off x="7589520" y="457200"/>
            <a:ext cx="822960" cy="82296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7" name="Motif 1"/>
          <p:cNvSpPr/>
          <p:nvPr/>
        </p:nvSpPr>
        <p:spPr>
          <a:xfrm>
            <a:off x="8138160" y="1097280"/>
            <a:ext cx="457200" cy="4572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8" name="Motif 2"/>
          <p:cNvSpPr/>
          <p:nvPr/>
        </p:nvSpPr>
        <p:spPr>
          <a:xfrm>
            <a:off x="7315200" y="1188720"/>
            <a:ext cx="320040" cy="32004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Sprint 5 Objectives &amp; Architecture</a:t>
            </a:r>
            <a:endParaRPr lang="en-US" sz="3000" dirty="0"/>
          </a:p>
        </p:txBody>
      </p:sp>
      <p:sp>
        <p:nvSpPr>
          <p:cNvPr id="3" name="Card 0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0"/>
          <p:cNvSpPr txBox="1"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Title 0"/>
          <p:cNvSpPr txBox="1"/>
          <p:nvPr/>
        </p:nvSpPr>
        <p:spPr>
          <a:xfrm>
            <a:off x="137160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NLP Text Parser</a:t>
            </a:r>
            <a:endParaRPr lang="en-US" sz="1800" dirty="0"/>
          </a:p>
        </p:txBody>
      </p:sp>
      <p:sp>
        <p:nvSpPr>
          <p:cNvPr id="6" name="CardFile 0"/>
          <p:cNvSpPr txBox="1"/>
          <p:nvPr/>
        </p:nvSpPr>
        <p:spPr>
          <a:xfrm>
            <a:off x="13716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src/nlp/parser.py</a:t>
            </a:r>
            <a:endParaRPr lang="en-US" sz="1100" dirty="0"/>
          </a:p>
        </p:txBody>
      </p:sp>
      <p:sp>
        <p:nvSpPr>
          <p:cNvPr id="7" name="CardBody 0"/>
          <p:cNvSpPr txBox="1"/>
          <p:nvPr/>
        </p:nvSpPr>
        <p:spPr>
          <a:xfrm>
            <a:off x="685800" y="21945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Extract unstructured CAGR rates from management commentary in analysis.xlsx.</a:t>
            </a:r>
            <a:endParaRPr lang="en-US" sz="1400" dirty="0"/>
          </a:p>
        </p:txBody>
      </p:sp>
      <p:sp>
        <p:nvSpPr>
          <p:cNvPr id="8" name="Card 1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1"/>
          <p:cNvSpPr txBox="1"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rdTitle 1"/>
          <p:cNvSpPr txBox="1"/>
          <p:nvPr/>
        </p:nvSpPr>
        <p:spPr>
          <a:xfrm>
            <a:off x="557784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 Pros/Cons Generator</a:t>
            </a:r>
            <a:endParaRPr lang="en-US" sz="1800" dirty="0"/>
          </a:p>
        </p:txBody>
      </p:sp>
      <p:sp>
        <p:nvSpPr>
          <p:cNvPr id="11" name="CardFile 1"/>
          <p:cNvSpPr txBox="1"/>
          <p:nvPr/>
        </p:nvSpPr>
        <p:spPr>
          <a:xfrm>
            <a:off x="55778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src/nlp/pros_cons_generator.py</a:t>
            </a:r>
            <a:endParaRPr lang="en-US" sz="1100" dirty="0"/>
          </a:p>
        </p:txBody>
      </p:sp>
      <p:sp>
        <p:nvSpPr>
          <p:cNvPr id="12" name="CardBody 1"/>
          <p:cNvSpPr txBox="1"/>
          <p:nvPr/>
        </p:nvSpPr>
        <p:spPr>
          <a:xfrm>
            <a:off x="4892040" y="21945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 Pro rules and 12 Con rules with confidence scoring (&gt;60%).</a:t>
            </a:r>
            <a:endParaRPr lang="en-US" sz="1400" dirty="0"/>
          </a:p>
        </p:txBody>
      </p:sp>
      <p:sp>
        <p:nvSpPr>
          <p:cNvPr id="13" name="Card 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2"/>
          <p:cNvSpPr txBox="1"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Title 2"/>
          <p:cNvSpPr txBox="1"/>
          <p:nvPr/>
        </p:nvSpPr>
        <p:spPr>
          <a:xfrm>
            <a:off x="137160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Cash Flow Intelligence</a:t>
            </a:r>
            <a:endParaRPr lang="en-US" sz="1800" dirty="0"/>
          </a:p>
        </p:txBody>
      </p:sp>
      <p:sp>
        <p:nvSpPr>
          <p:cNvPr id="16" name="CardFile 2"/>
          <p:cNvSpPr txBox="1"/>
          <p:nvPr/>
        </p:nvSpPr>
        <p:spPr>
          <a:xfrm>
            <a:off x="137160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src/analytics/cashflow_kpis.py</a:t>
            </a:r>
            <a:endParaRPr lang="en-US" sz="1100" dirty="0"/>
          </a:p>
        </p:txBody>
      </p:sp>
      <p:sp>
        <p:nvSpPr>
          <p:cNvPr id="17" name="CardBody 2"/>
          <p:cNvSpPr txBox="1"/>
          <p:nvPr/>
        </p:nvSpPr>
        <p:spPr>
          <a:xfrm>
            <a:off x="68580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Quality score, CapEx intensity, distress flags, capital allocation patterns.</a:t>
            </a:r>
            <a:endParaRPr lang="en-US" sz="1400" dirty="0"/>
          </a:p>
        </p:txBody>
      </p:sp>
      <p:sp>
        <p:nvSpPr>
          <p:cNvPr id="18" name="Card 3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3"/>
          <p:cNvSpPr txBox="1"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ardTitle 3"/>
          <p:cNvSpPr txBox="1"/>
          <p:nvPr/>
        </p:nvSpPr>
        <p:spPr>
          <a:xfrm>
            <a:off x="557784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Reporting Engine</a:t>
            </a:r>
            <a:endParaRPr lang="en-US" sz="1800" dirty="0"/>
          </a:p>
        </p:txBody>
      </p:sp>
      <p:sp>
        <p:nvSpPr>
          <p:cNvPr id="21" name="CardFile 3"/>
          <p:cNvSpPr txBox="1"/>
          <p:nvPr/>
        </p:nvSpPr>
        <p:spPr>
          <a:xfrm>
            <a:off x="557784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src/reports/tearsheet.py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src/reports/batch_reports.py</a:t>
            </a:r>
            <a:endParaRPr lang="en-US" sz="1100" dirty="0"/>
          </a:p>
        </p:txBody>
      </p:sp>
      <p:sp>
        <p:nvSpPr>
          <p:cNvPr id="22" name="CardBody 3"/>
          <p:cNvSpPr txBox="1"/>
          <p:nvPr/>
        </p:nvSpPr>
        <p:spPr>
          <a:xfrm>
            <a:off x="48920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92 tearsheets, 11 sector reports, 92-page portfolio summary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NLP Text Extraction Engine (Day 29)</a:t>
            </a:r>
            <a:endParaRPr lang="en-US" sz="3000" dirty="0"/>
          </a:p>
        </p:txBody>
      </p:sp>
      <p:sp>
        <p:nvSpPr>
          <p:cNvPr id="3" name="Regex label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REGEX METHODOLOGY</a:t>
            </a:r>
            <a:endParaRPr lang="en-US" sz="1200" dirty="0"/>
          </a:p>
        </p:txBody>
      </p:sp>
      <p:sp>
        <p:nvSpPr>
          <p:cNvPr id="4" name="Regex panel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Regex"/>
          <p:cNvSpPr txBox="1"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(\d+)\s*Years?:?\s*([\d.]+)%</a:t>
            </a:r>
            <a:endParaRPr lang="en-US" sz="2000" dirty="0"/>
          </a:p>
        </p:txBody>
      </p:sp>
      <p:sp>
        <p:nvSpPr>
          <p:cNvPr id="6" name="Fields label"/>
          <p:cNvSpPr txBox="1"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FIELDS PROCESSED</a:t>
            </a:r>
            <a:endParaRPr lang="en-US" sz="1200" dirty="0"/>
          </a:p>
        </p:txBody>
      </p:sp>
      <p:sp>
        <p:nvSpPr>
          <p:cNvPr id="7" name="Field 0"/>
          <p:cNvSpPr txBox="1"/>
          <p:nvPr/>
        </p:nvSpPr>
        <p:spPr>
          <a:xfrm>
            <a:off x="457200" y="2697480"/>
            <a:ext cx="228600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Compounded Sales Growth</a:t>
            </a:r>
            <a:endParaRPr lang="en-US" sz="1200" dirty="0"/>
          </a:p>
        </p:txBody>
      </p:sp>
      <p:sp>
        <p:nvSpPr>
          <p:cNvPr id="8" name="Field 1"/>
          <p:cNvSpPr txBox="1"/>
          <p:nvPr/>
        </p:nvSpPr>
        <p:spPr>
          <a:xfrm>
            <a:off x="2880360" y="2697480"/>
            <a:ext cx="228600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Compounded Profit Growth</a:t>
            </a:r>
            <a:endParaRPr lang="en-US" sz="1200" dirty="0"/>
          </a:p>
        </p:txBody>
      </p:sp>
      <p:sp>
        <p:nvSpPr>
          <p:cNvPr id="9" name="Field 2"/>
          <p:cNvSpPr txBox="1"/>
          <p:nvPr/>
        </p:nvSpPr>
        <p:spPr>
          <a:xfrm>
            <a:off x="5303520" y="2697480"/>
            <a:ext cx="201168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 Price CAGR</a:t>
            </a:r>
            <a:endParaRPr lang="en-US" sz="1200" dirty="0"/>
          </a:p>
        </p:txBody>
      </p:sp>
      <p:sp>
        <p:nvSpPr>
          <p:cNvPr id="10" name="Field 3"/>
          <p:cNvSpPr txBox="1"/>
          <p:nvPr/>
        </p:nvSpPr>
        <p:spPr>
          <a:xfrm>
            <a:off x="7452360" y="2697480"/>
            <a:ext cx="169164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ROE</a:t>
            </a:r>
            <a:endParaRPr lang="en-US" sz="1200" dirty="0"/>
          </a:p>
        </p:txBody>
      </p:sp>
      <p:sp>
        <p:nvSpPr>
          <p:cNvPr id="11" name="Validate card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Validate title"/>
          <p:cNvSpPr txBox="1"/>
          <p:nvPr/>
        </p:nvSpPr>
        <p:spPr>
          <a:xfrm>
            <a:off x="68580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Cross-Validation</a:t>
            </a:r>
            <a:endParaRPr lang="en-US" sz="1800" dirty="0"/>
          </a:p>
        </p:txBody>
      </p:sp>
      <p:sp>
        <p:nvSpPr>
          <p:cNvPr id="13" name="Validate body"/>
          <p:cNvSpPr txBox="1"/>
          <p:nvPr/>
        </p:nvSpPr>
        <p:spPr>
          <a:xfrm>
            <a:off x="68580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Reconciled against the calculated 5-year CAGR from the Ratio Engine.</a:t>
            </a:r>
            <a:endParaRPr lang="en-US" sz="1400" dirty="0"/>
          </a:p>
        </p:txBody>
      </p:sp>
      <p:sp>
        <p:nvSpPr>
          <p:cNvPr id="14" name="Out 0"/>
          <p:cNvSpPr/>
          <p:nvPr/>
        </p:nvSpPr>
        <p:spPr>
          <a:xfrm>
            <a:off x="4663440" y="329184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utNum 0"/>
          <p:cNvSpPr txBox="1"/>
          <p:nvPr/>
        </p:nvSpPr>
        <p:spPr>
          <a:xfrm>
            <a:off x="484632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6" name="OutLabel 0"/>
          <p:cNvSpPr txBox="1"/>
          <p:nvPr/>
        </p:nvSpPr>
        <p:spPr>
          <a:xfrm>
            <a:off x="48463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 records</a:t>
            </a:r>
            <a:endParaRPr lang="en-US" sz="1300" dirty="0"/>
          </a:p>
        </p:txBody>
      </p:sp>
      <p:sp>
        <p:nvSpPr>
          <p:cNvPr id="17" name="OutFile 0"/>
          <p:cNvSpPr txBox="1"/>
          <p:nvPr/>
        </p:nvSpPr>
        <p:spPr>
          <a:xfrm>
            <a:off x="48463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analysis_parsed.csv</a:t>
            </a:r>
            <a:endParaRPr lang="en-US" sz="1000" dirty="0"/>
          </a:p>
        </p:txBody>
      </p:sp>
      <p:sp>
        <p:nvSpPr>
          <p:cNvPr id="18" name="Out 1"/>
          <p:cNvSpPr/>
          <p:nvPr/>
        </p:nvSpPr>
        <p:spPr>
          <a:xfrm>
            <a:off x="6675120" y="329184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utNum 1"/>
          <p:cNvSpPr txBox="1"/>
          <p:nvPr/>
        </p:nvSpPr>
        <p:spPr>
          <a:xfrm>
            <a:off x="685800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20" name="OutLabel 1"/>
          <p:cNvSpPr txBox="1"/>
          <p:nvPr/>
        </p:nvSpPr>
        <p:spPr>
          <a:xfrm>
            <a:off x="68580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anomalies logged</a:t>
            </a:r>
            <a:endParaRPr lang="en-US" sz="1300" dirty="0"/>
          </a:p>
        </p:txBody>
      </p:sp>
      <p:sp>
        <p:nvSpPr>
          <p:cNvPr id="21" name="OutFile 1"/>
          <p:cNvSpPr txBox="1"/>
          <p:nvPr/>
        </p:nvSpPr>
        <p:spPr>
          <a:xfrm>
            <a:off x="685800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parse_failures.csv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Auto Pros and Cons Rules Engine (Day 30)</a:t>
            </a:r>
            <a:endParaRPr lang="en-US" sz="3000" dirty="0"/>
          </a:p>
        </p:txBody>
      </p:sp>
      <p:sp>
        <p:nvSpPr>
          <p:cNvPr id="3" name="Stat 0"/>
          <p:cNvSpPr/>
          <p:nvPr/>
        </p:nvSpPr>
        <p:spPr>
          <a:xfrm>
            <a:off x="457200" y="10972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Num 0"/>
          <p:cNvSpPr txBox="1"/>
          <p:nvPr/>
        </p:nvSpPr>
        <p:spPr>
          <a:xfrm>
            <a:off x="640080" y="10972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</a:t>
            </a:r>
            <a:endParaRPr lang="en-US" sz="2600" dirty="0"/>
          </a:p>
        </p:txBody>
      </p:sp>
      <p:sp>
        <p:nvSpPr>
          <p:cNvPr id="5" name="StatLabel 0"/>
          <p:cNvSpPr txBox="1"/>
          <p:nvPr/>
        </p:nvSpPr>
        <p:spPr>
          <a:xfrm>
            <a:off x="1645920" y="1097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signals</a:t>
            </a:r>
            <a:endParaRPr lang="en-US" sz="1200" dirty="0"/>
          </a:p>
        </p:txBody>
      </p:sp>
      <p:sp>
        <p:nvSpPr>
          <p:cNvPr id="6" name="Stat 1"/>
          <p:cNvSpPr/>
          <p:nvPr/>
        </p:nvSpPr>
        <p:spPr>
          <a:xfrm>
            <a:off x="3291840" y="10972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Num 1"/>
          <p:cNvSpPr txBox="1"/>
          <p:nvPr/>
        </p:nvSpPr>
        <p:spPr>
          <a:xfrm>
            <a:off x="3474720" y="10972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2600" dirty="0"/>
          </a:p>
        </p:txBody>
      </p:sp>
      <p:sp>
        <p:nvSpPr>
          <p:cNvPr id="8" name="StatLabel 1"/>
          <p:cNvSpPr txBox="1"/>
          <p:nvPr/>
        </p:nvSpPr>
        <p:spPr>
          <a:xfrm>
            <a:off x="4480560" y="1097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companies · 100% coverage</a:t>
            </a:r>
            <a:endParaRPr lang="en-US" sz="1200" dirty="0"/>
          </a:p>
        </p:txBody>
      </p:sp>
      <p:sp>
        <p:nvSpPr>
          <p:cNvPr id="9" name="Stat 2"/>
          <p:cNvSpPr/>
          <p:nvPr/>
        </p:nvSpPr>
        <p:spPr>
          <a:xfrm>
            <a:off x="6126480" y="10972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Num 2"/>
          <p:cNvSpPr txBox="1"/>
          <p:nvPr/>
        </p:nvSpPr>
        <p:spPr>
          <a:xfrm>
            <a:off x="6309360" y="10972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&gt;60%</a:t>
            </a:r>
            <a:endParaRPr lang="en-US" sz="2600" dirty="0"/>
          </a:p>
        </p:txBody>
      </p:sp>
      <p:sp>
        <p:nvSpPr>
          <p:cNvPr id="11" name="StatLabel 2"/>
          <p:cNvSpPr txBox="1"/>
          <p:nvPr/>
        </p:nvSpPr>
        <p:spPr>
          <a:xfrm>
            <a:off x="7315200" y="1097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confidence threshold</a:t>
            </a:r>
            <a:endParaRPr lang="en-US" sz="1200" dirty="0"/>
          </a:p>
        </p:txBody>
      </p:sp>
      <p:sp>
        <p:nvSpPr>
          <p:cNvPr id="12" name="Rules 0"/>
          <p:cNvSpPr/>
          <p:nvPr/>
        </p:nvSpPr>
        <p:spPr>
          <a:xfrm>
            <a:off x="457200" y="2011680"/>
            <a:ext cx="402336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ulesTag 0"/>
          <p:cNvSpPr txBox="1"/>
          <p:nvPr/>
        </p:nvSpPr>
        <p:spPr>
          <a:xfrm>
            <a:off x="640080" y="2103120"/>
            <a:ext cx="2011680" cy="320040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 Pro Rules</a:t>
            </a:r>
            <a:endParaRPr lang="en-US" sz="1200" dirty="0"/>
          </a:p>
        </p:txBody>
      </p:sp>
      <p:sp>
        <p:nvSpPr>
          <p:cNvPr id="14" name="RuleList 00"/>
          <p:cNvSpPr txBox="1"/>
          <p:nvPr/>
        </p:nvSpPr>
        <p:spPr>
          <a:xfrm>
            <a:off x="640080" y="2542032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ROE &gt; 20% sustained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FCF 5y positive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Zero debt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Revenue CAGR &gt; 15%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OPM &gt; 25%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PAT CAGR &gt; 20%</a:t>
            </a:r>
            <a:endParaRPr lang="en-US" sz="1200" dirty="0"/>
          </a:p>
        </p:txBody>
      </p:sp>
      <p:sp>
        <p:nvSpPr>
          <p:cNvPr id="15" name="RuleList 01"/>
          <p:cNvSpPr txBox="1"/>
          <p:nvPr/>
        </p:nvSpPr>
        <p:spPr>
          <a:xfrm>
            <a:off x="2560320" y="2542032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ICR &gt; 10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Dividend yield &gt; 2%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EPS CAGR &gt; 15%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Improving ROE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Operating leverage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Balance sheet growth</a:t>
            </a:r>
            <a:endParaRPr lang="en-US" sz="1200" dirty="0"/>
          </a:p>
        </p:txBody>
      </p:sp>
      <p:sp>
        <p:nvSpPr>
          <p:cNvPr id="16" name="Rules 1"/>
          <p:cNvSpPr/>
          <p:nvPr/>
        </p:nvSpPr>
        <p:spPr>
          <a:xfrm>
            <a:off x="4663440" y="2011680"/>
            <a:ext cx="402336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ulesTag 1"/>
          <p:cNvSpPr txBox="1"/>
          <p:nvPr/>
        </p:nvSpPr>
        <p:spPr>
          <a:xfrm>
            <a:off x="4846320" y="2103120"/>
            <a:ext cx="2011680" cy="320040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 Con Rules</a:t>
            </a:r>
            <a:endParaRPr lang="en-US" sz="1200" dirty="0"/>
          </a:p>
        </p:txBody>
      </p:sp>
      <p:sp>
        <p:nvSpPr>
          <p:cNvPr id="18" name="RuleList 10"/>
          <p:cNvSpPr txBox="1"/>
          <p:nvPr/>
        </p:nvSpPr>
        <p:spPr>
          <a:xfrm>
            <a:off x="4846320" y="2542032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D/E &gt; 2.0 (non-financial)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Negative FCF 3y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Declining OPM 3y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Net loss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Declining sales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ICR &lt; 1.5</a:t>
            </a:r>
            <a:endParaRPr lang="en-US" sz="1200" dirty="0"/>
          </a:p>
        </p:txBody>
      </p:sp>
      <p:sp>
        <p:nvSpPr>
          <p:cNvPr id="19" name="RuleList 11"/>
          <p:cNvSpPr txBox="1"/>
          <p:nvPr/>
        </p:nvSpPr>
        <p:spPr>
          <a:xfrm>
            <a:off x="6766560" y="2542032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Dividend payout &gt; 100%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Rising leverage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Declining EPS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ROCE &lt; 10%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Net Debt &gt; 3x EBITDA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Stagnant growth (&lt;5%)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Cash Flow &amp; Distress Signals (Day 31)</a:t>
            </a:r>
            <a:endParaRPr lang="en-US" sz="3000" dirty="0"/>
          </a:p>
        </p:txBody>
      </p:sp>
      <p:sp>
        <p:nvSpPr>
          <p:cNvPr id="3" name="Metric 0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tricTitle 0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CFO Quality Score</a:t>
            </a:r>
            <a:endParaRPr lang="en-US" sz="1800" dirty="0"/>
          </a:p>
        </p:txBody>
      </p:sp>
      <p:sp>
        <p:nvSpPr>
          <p:cNvPr id="5" name="MetricDesc 0"/>
          <p:cNvSpPr txBox="1"/>
          <p:nvPr/>
        </p:nvSpPr>
        <p:spPr>
          <a:xfrm>
            <a:off x="68580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5-year average CFO/PAT ratio</a:t>
            </a:r>
            <a:endParaRPr lang="en-US" sz="1400" dirty="0"/>
          </a:p>
        </p:txBody>
      </p:sp>
      <p:sp>
        <p:nvSpPr>
          <p:cNvPr id="6" name="Band 00"/>
          <p:cNvSpPr txBox="1"/>
          <p:nvPr/>
        </p:nvSpPr>
        <p:spPr>
          <a:xfrm>
            <a:off x="685800" y="2194560"/>
            <a:ext cx="114300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 Quality</a:t>
            </a:r>
            <a:endParaRPr lang="en-US" sz="1200" dirty="0"/>
          </a:p>
        </p:txBody>
      </p:sp>
      <p:sp>
        <p:nvSpPr>
          <p:cNvPr id="7" name="Band 01"/>
          <p:cNvSpPr txBox="1"/>
          <p:nvPr/>
        </p:nvSpPr>
        <p:spPr>
          <a:xfrm>
            <a:off x="1901952" y="2194560"/>
            <a:ext cx="914400" cy="36576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Moderate</a:t>
            </a:r>
            <a:endParaRPr lang="en-US" sz="1200" dirty="0"/>
          </a:p>
        </p:txBody>
      </p:sp>
      <p:sp>
        <p:nvSpPr>
          <p:cNvPr id="8" name="Band 02"/>
          <p:cNvSpPr txBox="1"/>
          <p:nvPr/>
        </p:nvSpPr>
        <p:spPr>
          <a:xfrm>
            <a:off x="2889504" y="2194560"/>
            <a:ext cx="1143000" cy="36576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Accrual Risk</a:t>
            </a:r>
            <a:endParaRPr lang="en-US" sz="1200" dirty="0"/>
          </a:p>
        </p:txBody>
      </p:sp>
      <p:sp>
        <p:nvSpPr>
          <p:cNvPr id="9" name="Metric 1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etricTitle 1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CapEx Intensity</a:t>
            </a:r>
            <a:endParaRPr lang="en-US" sz="1800" dirty="0"/>
          </a:p>
        </p:txBody>
      </p:sp>
      <p:sp>
        <p:nvSpPr>
          <p:cNvPr id="11" name="MetricDesc 1"/>
          <p:cNvSpPr txBox="1"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|CFI| / Sales</a:t>
            </a:r>
            <a:endParaRPr lang="en-US" sz="1400" dirty="0"/>
          </a:p>
        </p:txBody>
      </p:sp>
      <p:sp>
        <p:nvSpPr>
          <p:cNvPr id="12" name="Band 10"/>
          <p:cNvSpPr txBox="1"/>
          <p:nvPr/>
        </p:nvSpPr>
        <p:spPr>
          <a:xfrm>
            <a:off x="4892040" y="2194560"/>
            <a:ext cx="960120" cy="36576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Asset Light &lt;3%</a:t>
            </a:r>
            <a:endParaRPr lang="en-US" sz="1200" dirty="0"/>
          </a:p>
        </p:txBody>
      </p:sp>
      <p:sp>
        <p:nvSpPr>
          <p:cNvPr id="13" name="Band 11"/>
          <p:cNvSpPr txBox="1"/>
          <p:nvPr/>
        </p:nvSpPr>
        <p:spPr>
          <a:xfrm>
            <a:off x="5925312" y="2194560"/>
            <a:ext cx="1051560" cy="36576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Moderate 3–8%</a:t>
            </a:r>
            <a:endParaRPr lang="en-US" sz="1200" dirty="0"/>
          </a:p>
        </p:txBody>
      </p:sp>
      <p:sp>
        <p:nvSpPr>
          <p:cNvPr id="14" name="Band 12"/>
          <p:cNvSpPr txBox="1"/>
          <p:nvPr/>
        </p:nvSpPr>
        <p:spPr>
          <a:xfrm>
            <a:off x="7050024" y="2194560"/>
            <a:ext cx="1508760" cy="36576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Capital Intensive &gt;8%</a:t>
            </a:r>
            <a:endParaRPr lang="en-US" sz="1200" dirty="0"/>
          </a:p>
        </p:txBody>
      </p:sp>
      <p:sp>
        <p:nvSpPr>
          <p:cNvPr id="15" name="Distress panel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Distress num"/>
          <p:cNvSpPr txBox="1"/>
          <p:nvPr/>
        </p:nvSpPr>
        <p:spPr>
          <a:xfrm>
            <a:off x="685800" y="3154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7" name="Distress label"/>
          <p:cNvSpPr txBox="1"/>
          <p:nvPr/>
        </p:nvSpPr>
        <p:spPr>
          <a:xfrm>
            <a:off x="19202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companies flagged as distress</a:t>
            </a:r>
            <a:endParaRPr lang="en-US" sz="1600" dirty="0"/>
          </a:p>
        </p:txBody>
      </p:sp>
      <p:sp>
        <p:nvSpPr>
          <p:cNvPr id="18" name="Distress rule"/>
          <p:cNvSpPr txBox="1"/>
          <p:nvPr/>
        </p:nvSpPr>
        <p:spPr>
          <a:xfrm>
            <a:off x="68580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 &lt; 0 and CFF &gt; 0</a:t>
            </a:r>
            <a:endParaRPr lang="en-US" sz="1400" dirty="0"/>
          </a:p>
        </p:txBody>
      </p:sp>
      <p:sp>
        <p:nvSpPr>
          <p:cNvPr id="19" name="Delever card"/>
          <p:cNvSpPr/>
          <p:nvPr/>
        </p:nvSpPr>
        <p:spPr>
          <a:xfrm>
            <a:off x="4663440" y="306324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elever text"/>
          <p:cNvSpPr txBox="1"/>
          <p:nvPr/>
        </p:nvSpPr>
        <p:spPr>
          <a:xfrm>
            <a:off x="484632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Deleveraging: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CFF &lt; 0 and debt declining year-over-year</a:t>
            </a:r>
            <a:endParaRPr lang="en-US" sz="1400" dirty="0"/>
          </a:p>
        </p:txBody>
      </p:sp>
      <p:sp>
        <p:nvSpPr>
          <p:cNvPr id="21" name="Output card"/>
          <p:cNvSpPr/>
          <p:nvPr/>
        </p:nvSpPr>
        <p:spPr>
          <a:xfrm>
            <a:off x="4663440" y="393192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Output text"/>
          <p:cNvSpPr txBox="1"/>
          <p:nvPr/>
        </p:nvSpPr>
        <p:spPr>
          <a:xfrm>
            <a:off x="484632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cashflow_intelligence.xlsx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92 rows, 11 columns  ·  distress_alerts.csv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Batch Report Generation (Days 33–35)</a:t>
            </a:r>
            <a:endParaRPr lang="en-US" sz="3000" dirty="0"/>
          </a:p>
        </p:txBody>
      </p:sp>
      <p:sp>
        <p:nvSpPr>
          <p:cNvPr id="3" name="Report 0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portNum 0"/>
          <p:cNvSpPr txBox="1"/>
          <p:nvPr/>
        </p:nvSpPr>
        <p:spPr>
          <a:xfrm>
            <a:off x="68580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5400" dirty="0"/>
          </a:p>
        </p:txBody>
      </p:sp>
      <p:sp>
        <p:nvSpPr>
          <p:cNvPr id="5" name="ReportTitle 0"/>
          <p:cNvSpPr txBox="1"/>
          <p:nvPr/>
        </p:nvSpPr>
        <p:spPr>
          <a:xfrm>
            <a:off x="68580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Company Tearsheets</a:t>
            </a:r>
            <a:endParaRPr lang="en-US" sz="1600" dirty="0"/>
          </a:p>
        </p:txBody>
      </p:sp>
      <p:sp>
        <p:nvSpPr>
          <p:cNvPr id="6" name="ReportDesc 0"/>
          <p:cNvSpPr txBox="1"/>
          <p:nvPr/>
        </p:nvSpPr>
        <p:spPr>
          <a:xfrm>
            <a:off x="685800" y="2450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2-page executive PDFs, 55.5 KB to 119.4 KB (all &gt; 30 KB)</a:t>
            </a:r>
            <a:endParaRPr lang="en-US" sz="1200" dirty="0"/>
          </a:p>
        </p:txBody>
      </p:sp>
      <p:sp>
        <p:nvSpPr>
          <p:cNvPr id="7" name="ReportList 0"/>
          <p:cNvSpPr txBox="1"/>
          <p:nvPr/>
        </p:nvSpPr>
        <p:spPr>
          <a:xfrm>
            <a:off x="685800" y="30632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Page 1: KPI tiles, 10-year bars, ROE/ROCE 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Page 2: balance sheet pie, cash flow bars, pros/cons, capital allocation badge</a:t>
            </a:r>
            <a:endParaRPr lang="en-US" sz="1200" dirty="0"/>
          </a:p>
        </p:txBody>
      </p:sp>
      <p:sp>
        <p:nvSpPr>
          <p:cNvPr id="8" name="Report 1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portNum 1"/>
          <p:cNvSpPr txBox="1"/>
          <p:nvPr/>
        </p:nvSpPr>
        <p:spPr>
          <a:xfrm>
            <a:off x="352044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0" name="ReportTitle 1"/>
          <p:cNvSpPr txBox="1"/>
          <p:nvPr/>
        </p:nvSpPr>
        <p:spPr>
          <a:xfrm>
            <a:off x="35204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Sector Reports</a:t>
            </a:r>
            <a:endParaRPr lang="en-US" sz="1600" dirty="0"/>
          </a:p>
        </p:txBody>
      </p:sp>
      <p:sp>
        <p:nvSpPr>
          <p:cNvPr id="11" name="ReportDesc 1"/>
          <p:cNvSpPr txBox="1"/>
          <p:nvPr/>
        </p:nvSpPr>
        <p:spPr>
          <a:xfrm>
            <a:off x="3520440" y="2450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per sector</a:t>
            </a:r>
            <a:endParaRPr lang="en-US" sz="1200" dirty="0"/>
          </a:p>
        </p:txBody>
      </p:sp>
      <p:sp>
        <p:nvSpPr>
          <p:cNvPr id="12" name="ReportList 1"/>
          <p:cNvSpPr txBox="1"/>
          <p:nvPr/>
        </p:nvSpPr>
        <p:spPr>
          <a:xfrm>
            <a:off x="3520440" y="30632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Sector median KPIs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performers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Complete 8-metric matrix</a:t>
            </a:r>
            <a:endParaRPr lang="en-US" sz="1200" dirty="0"/>
          </a:p>
        </p:txBody>
      </p:sp>
      <p:sp>
        <p:nvSpPr>
          <p:cNvPr id="13" name="Report 2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portNum 2"/>
          <p:cNvSpPr txBox="1"/>
          <p:nvPr/>
        </p:nvSpPr>
        <p:spPr>
          <a:xfrm>
            <a:off x="6355080" y="1280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5400" dirty="0"/>
          </a:p>
        </p:txBody>
      </p:sp>
      <p:sp>
        <p:nvSpPr>
          <p:cNvPr id="15" name="ReportTitle 2"/>
          <p:cNvSpPr txBox="1"/>
          <p:nvPr/>
        </p:nvSpPr>
        <p:spPr>
          <a:xfrm>
            <a:off x="63550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Portfolio Summary PDF</a:t>
            </a:r>
            <a:endParaRPr lang="en-US" sz="1600" dirty="0"/>
          </a:p>
        </p:txBody>
      </p:sp>
      <p:sp>
        <p:nvSpPr>
          <p:cNvPr id="16" name="ReportDesc 2"/>
          <p:cNvSpPr txBox="1"/>
          <p:nvPr/>
        </p:nvSpPr>
        <p:spPr>
          <a:xfrm>
            <a:off x="6355080" y="2450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92 pages, one per company</a:t>
            </a:r>
            <a:endParaRPr lang="en-US" sz="1200" dirty="0"/>
          </a:p>
        </p:txBody>
      </p:sp>
      <p:sp>
        <p:nvSpPr>
          <p:cNvPr id="17" name="ReportList 2"/>
          <p:cNvSpPr txBox="1"/>
          <p:nvPr/>
        </p:nvSpPr>
        <p:spPr>
          <a:xfrm>
            <a:off x="6355080" y="30632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6 KPIs per company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Directional trend arrows: ↑  ↓ 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Verification &amp; Sign-Off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All exit criteria met.</a:t>
            </a:r>
            <a:endParaRPr lang="en-US" sz="1800" dirty="0"/>
          </a:p>
        </p:txBody>
      </p:sp>
      <p:sp>
        <p:nvSpPr>
          <p:cNvPr id="4" name="Sign 0"/>
          <p:cNvSpPr/>
          <p:nvPr/>
        </p:nvSpPr>
        <p:spPr>
          <a:xfrm>
            <a:off x="640080" y="237744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ignNum 0"/>
          <p:cNvSpPr txBox="1"/>
          <p:nvPr/>
        </p:nvSpPr>
        <p:spPr>
          <a:xfrm>
            <a:off x="8229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SignDesc 0"/>
          <p:cNvSpPr txBox="1"/>
          <p:nvPr/>
        </p:nvSpPr>
        <p:spPr>
          <a:xfrm>
            <a:off x="8229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Company coverage</a:t>
            </a:r>
            <a:endParaRPr lang="en-US" sz="1400" dirty="0"/>
          </a:p>
        </p:txBody>
      </p:sp>
      <p:sp>
        <p:nvSpPr>
          <p:cNvPr id="7" name="Sign 1"/>
          <p:cNvSpPr/>
          <p:nvPr/>
        </p:nvSpPr>
        <p:spPr>
          <a:xfrm>
            <a:off x="3337560" y="237744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ignNum 1"/>
          <p:cNvSpPr txBox="1"/>
          <p:nvPr/>
        </p:nvSpPr>
        <p:spPr>
          <a:xfrm>
            <a:off x="352044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SignDesc 1"/>
          <p:cNvSpPr txBox="1"/>
          <p:nvPr/>
        </p:nvSpPr>
        <p:spPr>
          <a:xfrm>
            <a:off x="352044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Text overflow</a:t>
            </a:r>
            <a:endParaRPr lang="en-US" sz="1400" dirty="0"/>
          </a:p>
        </p:txBody>
      </p:sp>
      <p:sp>
        <p:nvSpPr>
          <p:cNvPr id="10" name="Sign 2"/>
          <p:cNvSpPr/>
          <p:nvPr/>
        </p:nvSpPr>
        <p:spPr>
          <a:xfrm>
            <a:off x="6035040" y="237744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ignNum 2"/>
          <p:cNvSpPr txBox="1"/>
          <p:nvPr/>
        </p:nvSpPr>
        <p:spPr>
          <a:xfrm>
            <a:off x="621792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</a:t>
            </a:r>
            <a:endParaRPr lang="en-US" sz="4000" dirty="0"/>
          </a:p>
        </p:txBody>
      </p:sp>
      <p:sp>
        <p:nvSpPr>
          <p:cNvPr id="12" name="SignDesc 2"/>
          <p:cNvSpPr txBox="1"/>
          <p:nvPr/>
        </p:nvSpPr>
        <p:spPr>
          <a:xfrm>
            <a:off x="621792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Reports generated</a:t>
            </a:r>
            <a:endParaRPr lang="en-US" sz="1400" dirty="0"/>
          </a:p>
        </p:txBody>
      </p:sp>
      <p:sp>
        <p:nvSpPr>
          <p:cNvPr id="13" name="Artifacts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Delivery artifacts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Sprint_5_Submission/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fty100 Sprint5">
  <a:themeElements>
    <a:clrScheme name="Nifty100 Sprint5">
      <a:dk1>
        <a:srgbClr val="0B2530"/>
      </a:dk1>
      <a:lt1>
        <a:srgbClr val="FFFFFF"/>
      </a:lt1>
      <a:dk2>
        <a:srgbClr val="12384A"/>
      </a:dk2>
      <a:lt2>
        <a:srgbClr val="EAF2F4"/>
      </a:lt2>
      <a:accent1>
        <a:srgbClr val="0E8C84"/>
      </a:accent1>
      <a:accent2>
        <a:srgbClr val="E0A030"/>
      </a:accent2>
      <a:accent3>
        <a:srgbClr val="7A8F99"/>
      </a:accent3>
      <a:accent4>
        <a:srgbClr val="2F6F9F"/>
      </a:accent4>
      <a:accent5>
        <a:srgbClr val="D9534F"/>
      </a:accent5>
      <a:accent6>
        <a:srgbClr val="5BB5AE"/>
      </a:accent6>
      <a:hlink>
        <a:srgbClr val="0E8C84"/>
      </a:hlink>
      <a:folHlink>
        <a:srgbClr val="7A8F99"/>
      </a:folHlink>
    </a:clrScheme>
    <a:fontScheme name="Nifty100 Sprint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— Sprint 5 Delivery</dc:title>
  <dc:subject>PptxGenJS Presentation</dc:subject>
  <dc:creator>PptxGenJS</dc:creator>
  <cp:lastModifiedBy>PptxGenJS</cp:lastModifiedBy>
  <cp:revision>1</cp:revision>
  <dcterms:created xsi:type="dcterms:W3CDTF">2026-10-27T13:08:49Z</dcterms:created>
  <dcterms:modified xsi:type="dcterms:W3CDTF">2026-10-27T13:08:49Z</dcterms:modified>
</cp:coreProperties>
</file>