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5780e3d-e75e-d250-0fd6-80faeab2fbb7}">
          <p14:sldIdLst>
            <p14:sldId id="256"/>
            <p14:sldId id="257"/>
          </p14:sldIdLst>
        </p14:section>
        <p14:section name="Delivery" id="{150ff3a3-b4df-641e-f05a-97a1d4fa3e9a}">
          <p14:sldIdLst>
            <p14:sldId id="258"/>
            <p14:sldId id="259"/>
            <p14:sldId id="260"/>
            <p14:sldId id="261"/>
          </p14:sldIdLst>
        </p14:section>
        <p14:section name="Integrity" id="{d38d731a-5128-7152-1df3-0db9f0c3b30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CADCFC"/>
                </a:solidFill>
                <a:latin typeface="+mn-lt"/>
              </a:rPr>
              <a:t>Rows: exit gate vs outcome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Exit gate</c:v>
                  </c:pt>
                  <c:pt idx="1">
                    <c:v>Integrated</c:v>
                  </c:pt>
                  <c:pt idx="2">
                    <c:v>Orphans rejected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1100</c:v>
                </c:pt>
                <c:pt idx="1">
                  <c:v>1070</c:v>
                </c:pt>
                <c:pt idx="2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0"/>
        </c:scaling>
        <c:delete val="0"/>
        <c:axPos val="l"/>
        <c:majorGridlines>
          <c:spPr>
            <a:ln w="6350" cap="flat">
              <a:solidFill>
                <a:srgbClr val="2A40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3383280"/>
            <a:ext cx="347472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834640"/>
            <a:ext cx="347472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3108960"/>
            <a:ext cx="347472" cy="11887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194560"/>
            <a:ext cx="347472" cy="2103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554480"/>
            <a:ext cx="347472" cy="2743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109728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548640" y="310896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Nifty 100 Financial Intelligence Platform  |  Sprint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Nifty 100 Financial Intelligence Platform  |  Sprint 2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10972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Nifty 100 Financial Intelligence Platform — Sprint 2</a:t>
            </a:r>
            <a:endParaRPr lang="en-US" sz="38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548640" y="31089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Architectural Expansion of the Financial Ratio Engine</a:t>
            </a:r>
            <a:endParaRPr lang="en-US" sz="18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Presenter: Data Engineering Intern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Sprint 2 Strategic Imperatives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28016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Heading 1"/>
          <p:cNvSpPr txBox="1"/>
          <p:nvPr/>
        </p:nvSpPr>
        <p:spPr>
          <a:xfrm>
            <a:off x="1325880" y="1481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Core Objective</a:t>
            </a:r>
            <a:endParaRPr lang="en-US" sz="1600" dirty="0"/>
          </a:p>
        </p:txBody>
      </p:sp>
      <p:sp>
        <p:nvSpPr>
          <p:cNvPr id="6" name="Body 1"/>
          <p:cNvSpPr txBox="1"/>
          <p:nvPr/>
        </p:nvSpPr>
        <p:spPr>
          <a:xfrm>
            <a:off x="1325880" y="18470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Engineer a dynamic, mathematically rigorous Financial Ratio Engine.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709160" y="128016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Number 2"/>
          <p:cNvSpPr txBox="1"/>
          <p:nvPr/>
        </p:nvSpPr>
        <p:spPr>
          <a:xfrm>
            <a:off x="493776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Heading 2"/>
          <p:cNvSpPr txBox="1"/>
          <p:nvPr/>
        </p:nvSpPr>
        <p:spPr>
          <a:xfrm>
            <a:off x="5577840" y="1481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Algorithmic Depth</a:t>
            </a:r>
            <a:endParaRPr lang="en-US" sz="1600" dirty="0"/>
          </a:p>
        </p:txBody>
      </p:sp>
      <p:sp>
        <p:nvSpPr>
          <p:cNvPr id="10" name="Body 2"/>
          <p:cNvSpPr txBox="1"/>
          <p:nvPr/>
        </p:nvSpPr>
        <p:spPr>
          <a:xfrm>
            <a:off x="5577840" y="18470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 advanced KPIs, multi-year CAGRs and cash-flow quality diagnostics.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92608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Heading 3"/>
          <p:cNvSpPr txBox="1"/>
          <p:nvPr/>
        </p:nvSpPr>
        <p:spPr>
          <a:xfrm>
            <a:off x="132588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Fault Tolerance</a:t>
            </a:r>
            <a:endParaRPr lang="en-US" sz="1600" dirty="0"/>
          </a:p>
        </p:txBody>
      </p:sp>
      <p:sp>
        <p:nvSpPr>
          <p:cNvPr id="14" name="Body 3"/>
          <p:cNvSpPr txBox="1"/>
          <p:nvPr/>
        </p:nvSpPr>
        <p:spPr>
          <a:xfrm>
            <a:off x="1325880" y="34930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Handle edge cases so anomalous financial states never break the pipeline.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709160" y="292608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Number 4"/>
          <p:cNvSpPr txBox="1"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Heading 4"/>
          <p:cNvSpPr txBox="1"/>
          <p:nvPr/>
        </p:nvSpPr>
        <p:spPr>
          <a:xfrm>
            <a:off x="557784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System Integration</a:t>
            </a:r>
            <a:endParaRPr lang="en-US" sz="1600" dirty="0"/>
          </a:p>
        </p:txBody>
      </p:sp>
      <p:sp>
        <p:nvSpPr>
          <p:cNvPr id="18" name="Body 4"/>
          <p:cNvSpPr txBox="1"/>
          <p:nvPr/>
        </p:nvSpPr>
        <p:spPr>
          <a:xfrm>
            <a:off x="5577840" y="34930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Governed integration of computed analytics into the central SQLite warehouse.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Algorithmic Expansion: 51 KPIs</a:t>
            </a:r>
            <a:endParaRPr lang="en-US" sz="3200" dirty="0"/>
          </a:p>
        </p:txBody>
      </p:sp>
      <p:sp>
        <p:nvSpPr>
          <p:cNvPr id="3" name="Stat panel"/>
          <p:cNvSpPr/>
          <p:nvPr/>
        </p:nvSpPr>
        <p:spPr>
          <a:xfrm>
            <a:off x="457200" y="1234440"/>
            <a:ext cx="3017520" cy="329184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/>
        </p:spPr>
      </p:sp>
      <p:sp>
        <p:nvSpPr>
          <p:cNvPr id="4" name="Stat 51"/>
          <p:cNvSpPr txBox="1"/>
          <p:nvPr/>
        </p:nvSpPr>
        <p:spPr>
          <a:xfrm>
            <a:off x="731520" y="1325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51</a:t>
            </a:r>
            <a:endParaRPr lang="en-US" sz="6000" dirty="0"/>
          </a:p>
        </p:txBody>
      </p:sp>
      <p:sp>
        <p:nvSpPr>
          <p:cNvPr id="5" name="Stat 51 label"/>
          <p:cNvSpPr txBox="1"/>
          <p:nvPr/>
        </p:nvSpPr>
        <p:spPr>
          <a:xfrm>
            <a:off x="7315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distinct pure-function KPIs, no performance degradation</a:t>
            </a:r>
            <a:endParaRPr lang="en-US" sz="1400" dirty="0"/>
          </a:p>
        </p:txBody>
      </p:sp>
      <p:sp>
        <p:nvSpPr>
          <p:cNvPr id="6" name="Stat 66"/>
          <p:cNvSpPr txBox="1"/>
          <p:nvPr/>
        </p:nvSpPr>
        <p:spPr>
          <a:xfrm>
            <a:off x="73152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66</a:t>
            </a:r>
            <a:endParaRPr lang="en-US" sz="6000" dirty="0"/>
          </a:p>
        </p:txBody>
      </p:sp>
      <p:sp>
        <p:nvSpPr>
          <p:cNvPr id="7" name="Stat 66 label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analytical columns in the Sprint 2 schema</a:t>
            </a:r>
            <a:endParaRPr lang="en-US" sz="1400" dirty="0"/>
          </a:p>
        </p:txBody>
      </p:sp>
      <p:sp>
        <p:nvSpPr>
          <p:cNvPr id="8" name="KPI row 1"/>
          <p:cNvSpPr/>
          <p:nvPr/>
        </p:nvSpPr>
        <p:spPr>
          <a:xfrm>
            <a:off x="3840480" y="1234440"/>
            <a:ext cx="48463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KPI number 1"/>
          <p:cNvSpPr txBox="1"/>
          <p:nvPr/>
        </p:nvSpPr>
        <p:spPr>
          <a:xfrm>
            <a:off x="402336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KPI heading 1"/>
          <p:cNvSpPr txBox="1"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Profitability &amp; Returns</a:t>
            </a:r>
            <a:endParaRPr lang="en-US" sz="1600" dirty="0"/>
          </a:p>
        </p:txBody>
      </p:sp>
      <p:sp>
        <p:nvSpPr>
          <p:cNvPr id="11" name="KPI body 1"/>
          <p:cNvSpPr txBox="1"/>
          <p:nvPr/>
        </p:nvSpPr>
        <p:spPr>
          <a:xfrm>
            <a:off x="4709160" y="1673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 Profit Margin, ROE, ROCE, ROA and EBITDA Margin.</a:t>
            </a:r>
            <a:endParaRPr lang="en-US" sz="1400" dirty="0"/>
          </a:p>
        </p:txBody>
      </p:sp>
      <p:sp>
        <p:nvSpPr>
          <p:cNvPr id="12" name="KPI row 2"/>
          <p:cNvSpPr/>
          <p:nvPr/>
        </p:nvSpPr>
        <p:spPr>
          <a:xfrm>
            <a:off x="3840480" y="2377440"/>
            <a:ext cx="48463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3" name="KPI number 2"/>
          <p:cNvSpPr txBox="1"/>
          <p:nvPr/>
        </p:nvSpPr>
        <p:spPr>
          <a:xfrm>
            <a:off x="402336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KPI heading 2"/>
          <p:cNvSpPr txBox="1"/>
          <p:nvPr/>
        </p:nvSpPr>
        <p:spPr>
          <a:xfrm>
            <a:off x="470916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Leverage &amp; Capital Efficiency</a:t>
            </a:r>
            <a:endParaRPr lang="en-US" sz="1600" dirty="0"/>
          </a:p>
        </p:txBody>
      </p:sp>
      <p:sp>
        <p:nvSpPr>
          <p:cNvPr id="15" name="KPI body 2"/>
          <p:cNvSpPr txBox="1"/>
          <p:nvPr/>
        </p:nvSpPr>
        <p:spPr>
          <a:xfrm>
            <a:off x="4709160" y="2816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Debt to Equity, Interest Coverage, Asset Turnover and Cash Flow to Debt.</a:t>
            </a:r>
            <a:endParaRPr lang="en-US" sz="1400" dirty="0"/>
          </a:p>
        </p:txBody>
      </p:sp>
      <p:sp>
        <p:nvSpPr>
          <p:cNvPr id="16" name="KPI row 3"/>
          <p:cNvSpPr/>
          <p:nvPr/>
        </p:nvSpPr>
        <p:spPr>
          <a:xfrm>
            <a:off x="3840480" y="3520440"/>
            <a:ext cx="48463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KPI number 3"/>
          <p:cNvSpPr txBox="1"/>
          <p:nvPr/>
        </p:nvSpPr>
        <p:spPr>
          <a:xfrm>
            <a:off x="402336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KPI heading 3"/>
          <p:cNvSpPr txBox="1"/>
          <p:nvPr/>
        </p:nvSpPr>
        <p:spPr>
          <a:xfrm>
            <a:off x="47091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Schema Evolution</a:t>
            </a:r>
            <a:endParaRPr lang="en-US" sz="1600" dirty="0"/>
          </a:p>
        </p:txBody>
      </p:sp>
      <p:sp>
        <p:nvSpPr>
          <p:cNvPr id="19" name="KPI body 3"/>
          <p:cNvSpPr txBox="1"/>
          <p:nvPr/>
        </p:nvSpPr>
        <p:spPr>
          <a:xfrm>
            <a:off x="4709160" y="3959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Foundational relational schema expanded to hold the full analytical KPI 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Temporal &amp; Cash-Flow Logic</a:t>
            </a:r>
            <a:endParaRPr lang="en-US" sz="3200" dirty="0"/>
          </a:p>
        </p:txBody>
      </p:sp>
      <p:sp>
        <p:nvSpPr>
          <p:cNvPr id="3" name="Column 1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4" name="Column 1 highlight"/>
          <p:cNvSpPr txBox="1"/>
          <p:nvPr/>
        </p:nvSpPr>
        <p:spPr>
          <a:xfrm>
            <a:off x="64008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 · 5 · 10 yr</a:t>
            </a:r>
            <a:endParaRPr lang="en-US" sz="2600" dirty="0"/>
          </a:p>
        </p:txBody>
      </p:sp>
      <p:sp>
        <p:nvSpPr>
          <p:cNvPr id="5" name="Column 1 heading"/>
          <p:cNvSpPr txBox="1"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Temporal Geometric Growth</a:t>
            </a:r>
            <a:endParaRPr lang="en-US" sz="1600" dirty="0"/>
          </a:p>
        </p:txBody>
      </p:sp>
      <p:sp>
        <p:nvSpPr>
          <p:cNvPr id="6" name="Column 1 body"/>
          <p:cNvSpPr txBox="1"/>
          <p:nvPr/>
        </p:nvSpPr>
        <p:spPr>
          <a:xfrm>
            <a:off x="640080" y="27432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Robust 3, 5 and 10-year compound annual growth algorithms.</a:t>
            </a:r>
            <a:endParaRPr lang="en-US" sz="1400" dirty="0"/>
          </a:p>
        </p:txBody>
      </p:sp>
      <p:sp>
        <p:nvSpPr>
          <p:cNvPr id="7" name="Column 2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8" name="Column 2 highlight"/>
          <p:cNvSpPr txBox="1"/>
          <p:nvPr/>
        </p:nvSpPr>
        <p:spPr>
          <a:xfrm>
            <a:off x="342900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State flags</a:t>
            </a:r>
            <a:endParaRPr lang="en-US" sz="2600" dirty="0"/>
          </a:p>
        </p:txBody>
      </p:sp>
      <p:sp>
        <p:nvSpPr>
          <p:cNvPr id="9" name="Column 2 heading"/>
          <p:cNvSpPr txBox="1"/>
          <p:nvPr/>
        </p:nvSpPr>
        <p:spPr>
          <a:xfrm>
            <a:off x="34290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 Transition Trajectories</a:t>
            </a:r>
            <a:endParaRPr lang="en-US" sz="1600" dirty="0"/>
          </a:p>
        </p:txBody>
      </p:sp>
      <p:sp>
        <p:nvSpPr>
          <p:cNvPr id="10" name="Column 2 body"/>
          <p:cNvSpPr txBox="1"/>
          <p:nvPr/>
        </p:nvSpPr>
        <p:spPr>
          <a:xfrm>
            <a:off x="3429000" y="27432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Detects Turnaround and Decline to Loss states, preventing exceptions on negative geometric roots.</a:t>
            </a:r>
            <a:endParaRPr lang="en-US" sz="1400" dirty="0"/>
          </a:p>
        </p:txBody>
      </p:sp>
      <p:sp>
        <p:nvSpPr>
          <p:cNvPr id="11" name="Column 3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2" name="Column 3 highlight"/>
          <p:cNvSpPr txBox="1"/>
          <p:nvPr/>
        </p:nvSpPr>
        <p:spPr>
          <a:xfrm>
            <a:off x="621792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5-yr CFO/PAT</a:t>
            </a:r>
            <a:endParaRPr lang="en-US" sz="2600" dirty="0"/>
          </a:p>
        </p:txBody>
      </p:sp>
      <p:sp>
        <p:nvSpPr>
          <p:cNvPr id="13" name="Column 3 heading"/>
          <p:cNvSpPr txBox="1"/>
          <p:nvPr/>
        </p:nvSpPr>
        <p:spPr>
          <a:xfrm>
            <a:off x="62179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Capital Allocation Modeling</a:t>
            </a:r>
            <a:endParaRPr lang="en-US" sz="1600" dirty="0"/>
          </a:p>
        </p:txBody>
      </p:sp>
      <p:sp>
        <p:nvSpPr>
          <p:cNvPr id="14" name="Column 3 body"/>
          <p:cNvSpPr txBox="1"/>
          <p:nvPr/>
        </p:nvSpPr>
        <p:spPr>
          <a:xfrm>
            <a:off x="6217920" y="27432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5-year trailing CFO-to-PAT averages with CapEx intensity to classify investment behavior.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&amp; Fault Tolerance</a:t>
            </a:r>
            <a:endParaRPr lang="en-US" sz="3200" dirty="0"/>
          </a:p>
        </p:txBody>
      </p:sp>
      <p:sp>
        <p:nvSpPr>
          <p:cNvPr id="3" name="Tile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</p:spPr>
      </p:sp>
      <p:sp>
        <p:nvSpPr>
          <p:cNvPr id="4" name="Tile 1 number"/>
          <p:cNvSpPr txBox="1"/>
          <p:nvPr/>
        </p:nvSpPr>
        <p:spPr>
          <a:xfrm>
            <a:off x="685800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31</a:t>
            </a:r>
            <a:endParaRPr lang="en-US" sz="5400" dirty="0"/>
          </a:p>
        </p:txBody>
      </p:sp>
      <p:sp>
        <p:nvSpPr>
          <p:cNvPr id="5" name="Tile 1 label"/>
          <p:cNvSpPr txBox="1"/>
          <p:nvPr/>
        </p:nvSpPr>
        <p:spPr>
          <a:xfrm>
            <a:off x="246888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test functions validating all mathematical logic</a:t>
            </a:r>
            <a:endParaRPr lang="en-US" sz="1400" dirty="0"/>
          </a:p>
        </p:txBody>
      </p:sp>
      <p:sp>
        <p:nvSpPr>
          <p:cNvPr id="6" name="Tile 2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</p:spPr>
      </p:sp>
      <p:sp>
        <p:nvSpPr>
          <p:cNvPr id="7" name="Tile 2 number"/>
          <p:cNvSpPr txBox="1"/>
          <p:nvPr/>
        </p:nvSpPr>
        <p:spPr>
          <a:xfrm>
            <a:off x="4892040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100%</a:t>
            </a:r>
            <a:endParaRPr lang="en-US" sz="5400" dirty="0"/>
          </a:p>
        </p:txBody>
      </p:sp>
      <p:sp>
        <p:nvSpPr>
          <p:cNvPr id="8" name="Tile 2 label"/>
          <p:cNvSpPr txBox="1"/>
          <p:nvPr/>
        </p:nvSpPr>
        <p:spPr>
          <a:xfrm>
            <a:off x="667512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historical pass rate across all 31 critical tests</a:t>
            </a:r>
            <a:endParaRPr lang="en-US" sz="1400" dirty="0"/>
          </a:p>
        </p:txBody>
      </p:sp>
      <p:sp>
        <p:nvSpPr>
          <p:cNvPr id="9" name="Flow heading"/>
          <p:cNvSpPr txBox="1"/>
          <p:nvPr/>
        </p:nvSpPr>
        <p:spPr>
          <a:xfrm>
            <a:off x="4572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Graceful Degradation</a:t>
            </a:r>
            <a:endParaRPr lang="en-US" sz="1600" dirty="0"/>
          </a:p>
        </p:txBody>
      </p:sp>
      <p:sp>
        <p:nvSpPr>
          <p:cNvPr id="10" name="Flow box 1"/>
          <p:cNvSpPr txBox="1"/>
          <p:nvPr/>
        </p:nvSpPr>
        <p:spPr>
          <a:xfrm>
            <a:off x="457200" y="342900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Zero or negative equity</a:t>
            </a:r>
            <a:endParaRPr lang="en-US" sz="1400" dirty="0"/>
          </a:p>
        </p:txBody>
      </p:sp>
      <p:sp>
        <p:nvSpPr>
          <p:cNvPr id="11" name="Flow box 2"/>
          <p:cNvSpPr txBox="1"/>
          <p:nvPr/>
        </p:nvSpPr>
        <p:spPr>
          <a:xfrm>
            <a:off x="3291840" y="342900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Debt-free balance sheets</a:t>
            </a:r>
            <a:endParaRPr lang="en-US" sz="1400" dirty="0"/>
          </a:p>
        </p:txBody>
      </p:sp>
      <p:sp>
        <p:nvSpPr>
          <p:cNvPr id="12" name="Flow box 3"/>
          <p:cNvSpPr txBox="1"/>
          <p:nvPr/>
        </p:nvSpPr>
        <p:spPr>
          <a:xfrm>
            <a:off x="6126480" y="342900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Resolved to semantic flags, not runtime crashes</a:t>
            </a:r>
            <a:endParaRPr lang="en-US" sz="1400" dirty="0"/>
          </a:p>
        </p:txBody>
      </p:sp>
      <p:sp>
        <p:nvSpPr>
          <p:cNvPr id="13" name="Flow arrow 1"/>
          <p:cNvSpPr/>
          <p:nvPr/>
        </p:nvSpPr>
        <p:spPr>
          <a:xfrm>
            <a:off x="2862072" y="3749040"/>
            <a:ext cx="32004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Flow arrow 2"/>
          <p:cNvSpPr/>
          <p:nvPr/>
        </p:nvSpPr>
        <p:spPr>
          <a:xfrm>
            <a:off x="5696712" y="3749040"/>
            <a:ext cx="32004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Governed Database Integration</a:t>
            </a:r>
            <a:endParaRPr lang="en-US" sz="3200" dirty="0"/>
          </a:p>
        </p:txBody>
      </p:sp>
      <p:sp>
        <p:nvSpPr>
          <p:cNvPr id="3" name="Stat tile 1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Stat 1"/>
          <p:cNvSpPr txBox="1"/>
          <p:nvPr/>
        </p:nvSpPr>
        <p:spPr>
          <a:xfrm>
            <a:off x="68580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1,070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6858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validated ratio records in nifty100.db</a:t>
            </a:r>
            <a:endParaRPr lang="en-US" sz="1400" dirty="0"/>
          </a:p>
        </p:txBody>
      </p:sp>
      <p:sp>
        <p:nvSpPr>
          <p:cNvPr id="6" name="Stat tile 2"/>
          <p:cNvSpPr/>
          <p:nvPr/>
        </p:nvSpPr>
        <p:spPr>
          <a:xfrm>
            <a:off x="324612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7" name="Stat 2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</a:t>
            </a:r>
            <a:endParaRPr lang="en-US" sz="4400" dirty="0"/>
          </a:p>
        </p:txBody>
      </p:sp>
      <p:sp>
        <p:nvSpPr>
          <p:cNvPr id="8" name="Stat 2 label"/>
          <p:cNvSpPr txBox="1"/>
          <p:nvPr/>
        </p:nvSpPr>
        <p:spPr>
          <a:xfrm>
            <a:off x="34747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foreign-key violations in the ETL ingestion phase</a:t>
            </a:r>
            <a:endParaRPr lang="en-US" sz="1400" dirty="0"/>
          </a:p>
        </p:txBody>
      </p:sp>
      <p:sp>
        <p:nvSpPr>
          <p:cNvPr id="9" name="Stat tile 3"/>
          <p:cNvSpPr/>
          <p:nvPr/>
        </p:nvSpPr>
        <p:spPr>
          <a:xfrm>
            <a:off x="603504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Stat 3"/>
          <p:cNvSpPr txBox="1"/>
          <p:nvPr/>
        </p:nvSpPr>
        <p:spPr>
          <a:xfrm>
            <a:off x="626364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26364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auditable artifacts generated automatically</a:t>
            </a:r>
            <a:endParaRPr lang="en-US" sz="1400" dirty="0"/>
          </a:p>
        </p:txBody>
      </p:sp>
      <p:sp>
        <p:nvSpPr>
          <p:cNvPr id="12" name="Artifact card 1"/>
          <p:cNvSpPr/>
          <p:nvPr/>
        </p:nvSpPr>
        <p:spPr>
          <a:xfrm>
            <a:off x="457200" y="3017520"/>
            <a:ext cx="402336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13" name="Artifact 1 caption"/>
          <p:cNvSpPr txBox="1"/>
          <p:nvPr/>
        </p:nvSpPr>
        <p:spPr>
          <a:xfrm>
            <a:off x="685800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TRACEABLE ARTIFACT</a:t>
            </a:r>
            <a:endParaRPr lang="en-US" sz="1200" dirty="0"/>
          </a:p>
        </p:txBody>
      </p:sp>
      <p:sp>
        <p:nvSpPr>
          <p:cNvPr id="14" name="Artifact 1 name"/>
          <p:cNvSpPr txBox="1"/>
          <p:nvPr/>
        </p:nvSpPr>
        <p:spPr>
          <a:xfrm>
            <a:off x="68580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capital_allocation.csv</a:t>
            </a:r>
            <a:endParaRPr lang="en-US" sz="1800" dirty="0"/>
          </a:p>
        </p:txBody>
      </p:sp>
      <p:sp>
        <p:nvSpPr>
          <p:cNvPr id="15" name="Artifact 1 body"/>
          <p:cNvSpPr txBox="1"/>
          <p:nvPr/>
        </p:nvSpPr>
        <p:spPr>
          <a:xfrm>
            <a:off x="68580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Structural report produced by the capital allocation model.</a:t>
            </a:r>
            <a:endParaRPr lang="en-US" sz="1400" dirty="0"/>
          </a:p>
        </p:txBody>
      </p:sp>
      <p:sp>
        <p:nvSpPr>
          <p:cNvPr id="16" name="Artifact card 2"/>
          <p:cNvSpPr/>
          <p:nvPr/>
        </p:nvSpPr>
        <p:spPr>
          <a:xfrm>
            <a:off x="4663440" y="3017520"/>
            <a:ext cx="402336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17" name="Artifact 2 caption"/>
          <p:cNvSpPr txBox="1"/>
          <p:nvPr/>
        </p:nvSpPr>
        <p:spPr>
          <a:xfrm>
            <a:off x="4892040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TRACEABLE ARTIFACT</a:t>
            </a:r>
            <a:endParaRPr lang="en-US" sz="1200" dirty="0"/>
          </a:p>
        </p:txBody>
      </p:sp>
      <p:sp>
        <p:nvSpPr>
          <p:cNvPr id="18" name="Artifact 2 name"/>
          <p:cNvSpPr txBox="1"/>
          <p:nvPr/>
        </p:nvSpPr>
        <p:spPr>
          <a:xfrm>
            <a:off x="489204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ratio_edge_cases.log</a:t>
            </a:r>
            <a:endParaRPr lang="en-US" sz="1800" dirty="0"/>
          </a:p>
        </p:txBody>
      </p:sp>
      <p:sp>
        <p:nvSpPr>
          <p:cNvPr id="19" name="Artifact 2 body"/>
          <p:cNvSpPr txBox="1"/>
          <p:nvPr/>
        </p:nvSpPr>
        <p:spPr>
          <a:xfrm>
            <a:off x="489204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Granular log enabling auditable exception tracing.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Source-Data Constraints</a:t>
            </a:r>
            <a:endParaRPr lang="en-US" sz="3200" dirty="0"/>
          </a:p>
        </p:txBody>
      </p:sp>
      <p:graphicFrame>
        <p:nvGraphicFramePr>
          <p:cNvPr id="3" name="Rows chart" descr=""/>
          <p:cNvGraphicFramePr/>
          <p:nvPr/>
        </p:nvGraphicFramePr>
        <p:xfrm>
          <a:off x="457200" y="123444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straint heading 1"/>
          <p:cNvSpPr txBox="1"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Integration Threshold</a:t>
            </a:r>
            <a:endParaRPr lang="en-US" sz="1600" dirty="0"/>
          </a:p>
        </p:txBody>
      </p:sp>
      <p:sp>
        <p:nvSpPr>
          <p:cNvPr id="5" name="Constraint body 1"/>
          <p:cNvSpPr txBox="1"/>
          <p:nvPr/>
        </p:nvSpPr>
        <p:spPr>
          <a:xfrm>
            <a:off x="502920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1,100+ row exit gate remains blocked by an upstream source-data anomaly.</a:t>
            </a:r>
            <a:endParaRPr lang="en-US" sz="1400" dirty="0"/>
          </a:p>
        </p:txBody>
      </p:sp>
      <p:sp>
        <p:nvSpPr>
          <p:cNvPr id="6" name="Constraint heading 2"/>
          <p:cNvSpPr txBox="1"/>
          <p:nvPr/>
        </p:nvSpPr>
        <p:spPr>
          <a:xfrm>
            <a:off x="50292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Upstream Data Deficit</a:t>
            </a:r>
            <a:endParaRPr lang="en-US" sz="1600" dirty="0"/>
          </a:p>
        </p:txBody>
      </p:sp>
      <p:sp>
        <p:nvSpPr>
          <p:cNvPr id="7" name="Constraint body 2"/>
          <p:cNvSpPr txBox="1"/>
          <p:nvPr/>
        </p:nvSpPr>
        <p:spPr>
          <a:xfrm>
            <a:off x="502920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master dataset held 92 companies, missing 8 institutional IDs (e.g., ZOMATO, WIPRO).</a:t>
            </a:r>
            <a:endParaRPr lang="en-US" sz="1400" dirty="0"/>
          </a:p>
        </p:txBody>
      </p:sp>
      <p:sp>
        <p:nvSpPr>
          <p:cNvPr id="8" name="Constraint heading 3"/>
          <p:cNvSpPr txBox="1"/>
          <p:nvPr/>
        </p:nvSpPr>
        <p:spPr>
          <a:xfrm>
            <a:off x="5029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Uncompromising Integrity</a:t>
            </a:r>
            <a:endParaRPr lang="en-US" sz="1600" dirty="0"/>
          </a:p>
        </p:txBody>
      </p:sp>
      <p:sp>
        <p:nvSpPr>
          <p:cNvPr id="9" name="Constraint body 3"/>
          <p:cNvSpPr txBox="1"/>
          <p:nvPr/>
        </p:nvSpPr>
        <p:spPr>
          <a:xfrm>
            <a:off x="502920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91 orphan records were rejected rather than fabricating master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fty Ledger">
  <a:themeElements>
    <a:clrScheme name="Nifty Ledger">
      <a:dk1>
        <a:srgbClr val="0B1F3A"/>
      </a:dk1>
      <a:lt1>
        <a:srgbClr val="FFFFFF"/>
      </a:lt1>
      <a:dk2>
        <a:srgbClr val="1C7293"/>
      </a:dk2>
      <a:lt2>
        <a:srgbClr val="EAF1F7"/>
      </a:lt2>
      <a:accent1>
        <a:srgbClr val="1C7293"/>
      </a:accent1>
      <a:accent2>
        <a:srgbClr val="F2A33A"/>
      </a:accent2>
      <a:accent3>
        <a:srgbClr val="2E8B6F"/>
      </a:accent3>
      <a:accent4>
        <a:srgbClr val="C0504D"/>
      </a:accent4>
      <a:accent5>
        <a:srgbClr val="5B6B85"/>
      </a:accent5>
      <a:accent6>
        <a:srgbClr val="CADCFC"/>
      </a:accent6>
      <a:hlink>
        <a:srgbClr val="1C7293"/>
      </a:hlink>
      <a:folHlink>
        <a:srgbClr val="5B6B85"/>
      </a:folHlink>
    </a:clrScheme>
    <a:fontScheme name="Nifty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Platform - Sprint 2</dc:title>
  <dc:subject>PptxGenJS Presentation</dc:subject>
  <dc:creator>Data Engineering Intern</dc:creator>
  <cp:lastModifiedBy>Data Engineering Intern</cp:lastModifiedBy>
  <cp:revision>1</cp:revision>
  <dcterms:created xsi:type="dcterms:W3CDTF">2026-10-09T14:00:15Z</dcterms:created>
  <dcterms:modified xsi:type="dcterms:W3CDTF">2026-10-09T14:00:15Z</dcterms:modified>
</cp:coreProperties>
</file>