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2d6798d-19b2-52b0-dbc0-42b7066c3585}">
          <p14:sldIdLst>
            <p14:sldId id="256"/>
          </p14:sldIdLst>
        </p14:section>
        <p14:section name="Delivery" id="{b03bb156-30f9-6e13-1d57-44a139e6a570}">
          <p14:sldIdLst>
            <p14:sldId id="257"/>
            <p14:sldId id="258"/>
            <p14:sldId id="259"/>
            <p14:sldId id="260"/>
          </p14:sldIdLst>
        </p14:section>
        <p14:section name="Close" id="{1dbeea27-2bba-c770-69f7-49915cabca99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Tests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5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ETL Normaliser</c:v>
                  </c:pt>
                  <c:pt idx="1">
                    <c:v>Data Quality Rules</c:v>
                  </c:pt>
                  <c:pt idx="2">
                    <c:v>KPI Formulas</c:v>
                  </c:pt>
                  <c:pt idx="3">
                    <c:v>Screener Engine</c:v>
                  </c:pt>
                  <c:pt idx="4">
                    <c:v>API Integration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15</c:v>
                </c:pt>
                <c:pt idx="2">
                  <c:v>24</c:v>
                </c:pt>
                <c:pt idx="3">
                  <c:v>7</c:v>
                </c:pt>
                <c:pt idx="4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5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5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6 closes the project: ML clustering, a 16-endpoint production API, a 130-test QA suite and the capstone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 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035040" y="548640"/>
            <a:ext cx="3840480" cy="3840480"/>
          </a:xfrm>
          <a:prstGeom prst="ellipse">
            <a:avLst/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3" name="Motif small"/>
          <p:cNvSpPr/>
          <p:nvPr/>
        </p:nvSpPr>
        <p:spPr>
          <a:xfrm>
            <a:off x="6858000" y="2103120"/>
            <a:ext cx="2011680" cy="201168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09728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Nifty 100 Financial Intelligence</a:t>
            </a:r>
            <a:endParaRPr lang="en-US" sz="4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Sprint 6 Final Delivery · Days 36–45</a:t>
            </a:r>
            <a:endParaRPr lang="en-US" sz="2000" dirty="0"/>
          </a:p>
        </p:txBody>
      </p:sp>
      <p:sp>
        <p:nvSpPr>
          <p:cNvPr id="6" name="Tagline"/>
          <p:cNvSpPr txBox="1"/>
          <p:nvPr/>
        </p:nvSpPr>
        <p:spPr>
          <a:xfrm>
            <a:off x="548640" y="32004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Unsupervised clustering, production FastAPI server (16 endpoints) and QA sign-off</a:t>
            </a:r>
            <a:endParaRPr lang="en-US" sz="1600" dirty="0"/>
          </a:p>
        </p:txBody>
      </p:sp>
      <p:sp>
        <p:nvSpPr>
          <p:cNvPr id="7" name="Presenter"/>
          <p:cNvSpPr txBox="1"/>
          <p:nvPr/>
        </p:nvSpPr>
        <p:spPr>
          <a:xfrm>
            <a:off x="54864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Engineering &amp; Quantitative Analytics Team · Bluestock Mutual Fund Analytics Division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Sprint 6 Objectives</a:t>
            </a:r>
            <a:endParaRPr lang="en-US" sz="3600" dirty="0"/>
          </a:p>
        </p:txBody>
      </p:sp>
      <p:sp>
        <p:nvSpPr>
          <p:cNvPr id="3" name="Row card 1"/>
          <p:cNvSpPr/>
          <p:nvPr/>
        </p:nvSpPr>
        <p:spPr>
          <a:xfrm>
            <a:off x="457200" y="1280160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Row number 1"/>
          <p:cNvSpPr/>
          <p:nvPr/>
        </p:nvSpPr>
        <p:spPr>
          <a:xfrm>
            <a:off x="594360" y="13716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ow digit 1"/>
          <p:cNvSpPr txBox="1"/>
          <p:nvPr/>
        </p:nvSpPr>
        <p:spPr>
          <a:xfrm>
            <a:off x="59436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ow text 1"/>
          <p:cNvSpPr txBox="1"/>
          <p:nvPr/>
        </p:nvSpPr>
        <p:spPr>
          <a:xfrm>
            <a:off x="1188720" y="12984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KMeans Clustering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src/analytics/clustering.py · Groups 100 companies on fundamental features</a:t>
            </a:r>
            <a:endParaRPr lang="en-US" sz="1600" dirty="0"/>
          </a:p>
        </p:txBody>
      </p:sp>
      <p:sp>
        <p:nvSpPr>
          <p:cNvPr id="7" name="Row card 2"/>
          <p:cNvSpPr/>
          <p:nvPr/>
        </p:nvSpPr>
        <p:spPr>
          <a:xfrm>
            <a:off x="457200" y="1956816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8" name="Row number 2"/>
          <p:cNvSpPr/>
          <p:nvPr/>
        </p:nvSpPr>
        <p:spPr>
          <a:xfrm>
            <a:off x="594360" y="20482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Row digit 2"/>
          <p:cNvSpPr txBox="1"/>
          <p:nvPr/>
        </p:nvSpPr>
        <p:spPr>
          <a:xfrm>
            <a:off x="59436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Row text 2"/>
          <p:cNvSpPr txBox="1"/>
          <p:nvPr/>
        </p:nvSpPr>
        <p:spPr>
          <a:xfrm>
            <a:off x="1188720" y="19751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Production REST API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src/api/main.py · 16 endpoints for ratios, screener and tearsheets</a:t>
            </a:r>
            <a:endParaRPr lang="en-US" sz="1600" dirty="0"/>
          </a:p>
        </p:txBody>
      </p:sp>
      <p:sp>
        <p:nvSpPr>
          <p:cNvPr id="11" name="Row card 3"/>
          <p:cNvSpPr/>
          <p:nvPr/>
        </p:nvSpPr>
        <p:spPr>
          <a:xfrm>
            <a:off x="457200" y="2633472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Row number 3"/>
          <p:cNvSpPr/>
          <p:nvPr/>
        </p:nvSpPr>
        <p:spPr>
          <a:xfrm>
            <a:off x="594360" y="27249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Row digit 3"/>
          <p:cNvSpPr txBox="1"/>
          <p:nvPr/>
        </p:nvSpPr>
        <p:spPr>
          <a:xfrm>
            <a:off x="59436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Row text 3"/>
          <p:cNvSpPr txBox="1"/>
          <p:nvPr/>
        </p:nvSpPr>
        <p:spPr>
          <a:xfrm>
            <a:off x="118872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 Documentation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docs/ · OpenAPI 3.1.0 and Postman v2.1 exports</a:t>
            </a:r>
            <a:endParaRPr lang="en-US" sz="1600" dirty="0"/>
          </a:p>
        </p:txBody>
      </p:sp>
      <p:sp>
        <p:nvSpPr>
          <p:cNvPr id="15" name="Row card 4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Row number 4"/>
          <p:cNvSpPr/>
          <p:nvPr/>
        </p:nvSpPr>
        <p:spPr>
          <a:xfrm>
            <a:off x="594360" y="340156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ow digit 4"/>
          <p:cNvSpPr txBox="1"/>
          <p:nvPr/>
        </p:nvSpPr>
        <p:spPr>
          <a:xfrm>
            <a:off x="59436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Row text 4"/>
          <p:cNvSpPr txBox="1"/>
          <p:nvPr/>
        </p:nvSpPr>
        <p:spPr>
          <a:xfrm>
            <a:off x="1188720" y="33284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QA &amp; Testing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tests/ · pytest suite for ETL, DQ rules, ratios and API</a:t>
            </a:r>
            <a:endParaRPr lang="en-US" sz="1600" dirty="0"/>
          </a:p>
        </p:txBody>
      </p:sp>
      <p:sp>
        <p:nvSpPr>
          <p:cNvPr id="19" name="Row card 5"/>
          <p:cNvSpPr/>
          <p:nvPr/>
        </p:nvSpPr>
        <p:spPr>
          <a:xfrm>
            <a:off x="457200" y="3986784"/>
            <a:ext cx="822960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0" name="Row number 5"/>
          <p:cNvSpPr/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Row digit 5"/>
          <p:cNvSpPr txBox="1"/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Row text 5"/>
          <p:cNvSpPr txBox="1"/>
          <p:nvPr/>
        </p:nvSpPr>
        <p:spPr>
          <a:xfrm>
            <a:off x="1188720" y="4005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Capstone Delivery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docs/ · Analyst Guide and Acceptance Checklist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Machine Learning Clustering</a:t>
            </a:r>
            <a:endParaRPr lang="en-US" sz="3600" dirty="0"/>
          </a:p>
        </p:txBody>
      </p:sp>
      <p:sp>
        <p:nvSpPr>
          <p:cNvPr id="3" name="Features header"/>
          <p:cNvSpPr txBox="1"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Feature set</a:t>
            </a:r>
            <a:endParaRPr lang="en-US" sz="1800" dirty="0"/>
          </a:p>
        </p:txBody>
      </p:sp>
      <p:sp>
        <p:nvSpPr>
          <p:cNvPr id="4" name="Features list"/>
          <p:cNvSpPr txBox="1"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Debt/Equity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5-year revenue growth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5-year FCF growth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Operating profit margin</a:t>
            </a:r>
            <a:endParaRPr lang="en-US" sz="1400" dirty="0"/>
          </a:p>
        </p:txBody>
      </p:sp>
      <p:sp>
        <p:nvSpPr>
          <p:cNvPr id="5" name="Preprocessing header"/>
          <p:cNvSpPr txBox="1"/>
          <p:nvPr/>
        </p:nvSpPr>
        <p:spPr>
          <a:xfrm>
            <a:off x="45720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Preprocessing</a:t>
            </a:r>
            <a:endParaRPr lang="en-US" sz="1800" dirty="0"/>
          </a:p>
        </p:txBody>
      </p:sp>
      <p:sp>
        <p:nvSpPr>
          <p:cNvPr id="6" name="Preprocessing text"/>
          <p:cNvSpPr txBox="1"/>
          <p:nvPr/>
        </p:nvSpPr>
        <p:spPr>
          <a:xfrm>
            <a:off x="457200" y="3337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Sector-median imputation, then StandardScaler. Inertia elbow curve evaluated across k = 1 to 9.</a:t>
            </a:r>
            <a:endParaRPr lang="en-US" sz="1400" dirty="0"/>
          </a:p>
        </p:txBody>
      </p:sp>
      <p:sp>
        <p:nvSpPr>
          <p:cNvPr id="7" name="Visuals caption"/>
          <p:cNvSpPr txBox="1"/>
          <p:nvPr/>
        </p:nvSpPr>
        <p:spPr>
          <a:xfrm>
            <a:off x="457200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Visuals: elbow_plot.png, correlation_heatmap.png</a:t>
            </a:r>
            <a:endParaRPr lang="en-US" sz="1200" dirty="0"/>
          </a:p>
        </p:txBody>
      </p:sp>
      <p:sp>
        <p:nvSpPr>
          <p:cNvPr id="8" name="k card"/>
          <p:cNvSpPr/>
          <p:nvPr/>
        </p:nvSpPr>
        <p:spPr>
          <a:xfrm>
            <a:off x="4754880" y="1234440"/>
            <a:ext cx="39319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k stat"/>
          <p:cNvSpPr txBox="1"/>
          <p:nvPr/>
        </p:nvSpPr>
        <p:spPr>
          <a:xfrm>
            <a:off x="4892040" y="12801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k = 5</a:t>
            </a:r>
            <a:endParaRPr lang="en-US" sz="4800" dirty="0"/>
          </a:p>
        </p:txBody>
      </p:sp>
      <p:sp>
        <p:nvSpPr>
          <p:cNvPr id="10" name="k caption"/>
          <p:cNvSpPr txBox="1"/>
          <p:nvPr/>
        </p:nvSpPr>
        <p:spPr>
          <a:xfrm>
            <a:off x="6720840" y="12801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Optimal cluster count selected from the elbow curve</a:t>
            </a:r>
            <a:endParaRPr lang="en-US" sz="1400" dirty="0"/>
          </a:p>
        </p:txBody>
      </p:sp>
      <p:sp>
        <p:nvSpPr>
          <p:cNvPr id="11" name="Profiles header"/>
          <p:cNvSpPr txBox="1"/>
          <p:nvPr/>
        </p:nvSpPr>
        <p:spPr>
          <a:xfrm>
            <a:off x="475488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Profiles discovered</a:t>
            </a:r>
            <a:endParaRPr lang="en-US" sz="1400" dirty="0"/>
          </a:p>
        </p:txBody>
      </p:sp>
      <p:sp>
        <p:nvSpPr>
          <p:cNvPr id="12" name="Profile pill 1"/>
          <p:cNvSpPr/>
          <p:nvPr/>
        </p:nvSpPr>
        <p:spPr>
          <a:xfrm>
            <a:off x="4754880" y="2834640"/>
            <a:ext cx="39319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13" name="Profile text 1"/>
          <p:cNvSpPr txBox="1"/>
          <p:nvPr/>
        </p:nvSpPr>
        <p:spPr>
          <a:xfrm>
            <a:off x="4892040" y="2834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 Margin Leaders</a:t>
            </a:r>
            <a:endParaRPr lang="en-US" sz="1400" dirty="0"/>
          </a:p>
        </p:txBody>
      </p:sp>
      <p:sp>
        <p:nvSpPr>
          <p:cNvPr id="14" name="Profile pill 2"/>
          <p:cNvSpPr/>
          <p:nvPr/>
        </p:nvSpPr>
        <p:spPr>
          <a:xfrm>
            <a:off x="4754880" y="3200400"/>
            <a:ext cx="39319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15" name="Profile text 2"/>
          <p:cNvSpPr txBox="1"/>
          <p:nvPr/>
        </p:nvSpPr>
        <p:spPr>
          <a:xfrm>
            <a:off x="4892040" y="32004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 Quality / Low Debt</a:t>
            </a:r>
            <a:endParaRPr lang="en-US" sz="1400" dirty="0"/>
          </a:p>
        </p:txBody>
      </p:sp>
      <p:sp>
        <p:nvSpPr>
          <p:cNvPr id="16" name="Profile pill 3"/>
          <p:cNvSpPr/>
          <p:nvPr/>
        </p:nvSpPr>
        <p:spPr>
          <a:xfrm>
            <a:off x="4754880" y="3566160"/>
            <a:ext cx="39319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17" name="Profile text 3"/>
          <p:cNvSpPr txBox="1"/>
          <p:nvPr/>
        </p:nvSpPr>
        <p:spPr>
          <a:xfrm>
            <a:off x="4892040" y="3566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 Growth</a:t>
            </a:r>
            <a:endParaRPr lang="en-US" sz="1400" dirty="0"/>
          </a:p>
        </p:txBody>
      </p:sp>
      <p:sp>
        <p:nvSpPr>
          <p:cNvPr id="18" name="Profile pill 4"/>
          <p:cNvSpPr/>
          <p:nvPr/>
        </p:nvSpPr>
        <p:spPr>
          <a:xfrm>
            <a:off x="4754880" y="3931920"/>
            <a:ext cx="39319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19" name="Profile text 4"/>
          <p:cNvSpPr txBox="1"/>
          <p:nvPr/>
        </p:nvSpPr>
        <p:spPr>
          <a:xfrm>
            <a:off x="4892040" y="3931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Highly Leveraged</a:t>
            </a:r>
            <a:endParaRPr lang="en-US" sz="1400" dirty="0"/>
          </a:p>
        </p:txBody>
      </p:sp>
      <p:sp>
        <p:nvSpPr>
          <p:cNvPr id="20" name="Profile pill 5"/>
          <p:cNvSpPr/>
          <p:nvPr/>
        </p:nvSpPr>
        <p:spPr>
          <a:xfrm>
            <a:off x="4754880" y="4297680"/>
            <a:ext cx="39319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21" name="Profile text 5"/>
          <p:cNvSpPr txBox="1"/>
          <p:nvPr/>
        </p:nvSpPr>
        <p:spPr>
          <a:xfrm>
            <a:off x="4892040" y="42976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Mixed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FastAPI Production Architecture</a:t>
            </a:r>
            <a:endParaRPr lang="en-US" sz="3600" dirty="0"/>
          </a:p>
        </p:txBody>
      </p:sp>
      <p:sp>
        <p:nvSpPr>
          <p:cNvPr id="3" name="Endpoint stat"/>
          <p:cNvSpPr txBox="1"/>
          <p:nvPr/>
        </p:nvSpPr>
        <p:spPr>
          <a:xfrm>
            <a:off x="457200" y="1188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16</a:t>
            </a:r>
            <a:endParaRPr lang="en-US" sz="9600" dirty="0"/>
          </a:p>
        </p:txBody>
      </p:sp>
      <p:sp>
        <p:nvSpPr>
          <p:cNvPr id="4" name="Endpoint caption"/>
          <p:cNvSpPr txBox="1"/>
          <p:nvPr/>
        </p:nvSpPr>
        <p:spPr>
          <a:xfrm>
            <a:off x="45720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high-performance endpoints</a:t>
            </a:r>
            <a:endParaRPr lang="en-US" sz="1600" dirty="0"/>
          </a:p>
        </p:txBody>
      </p:sp>
      <p:sp>
        <p:nvSpPr>
          <p:cNvPr id="5" name="File caption"/>
          <p:cNvSpPr txBox="1"/>
          <p:nvPr/>
        </p:nvSpPr>
        <p:spPr>
          <a:xfrm>
            <a:off x="45720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src/api/main.py</a:t>
            </a:r>
            <a:endParaRPr lang="en-US" sz="1200" dirty="0"/>
          </a:p>
        </p:txBody>
      </p:sp>
      <p:sp>
        <p:nvSpPr>
          <p:cNvPr id="6" name="Group card 1"/>
          <p:cNvSpPr/>
          <p:nvPr/>
        </p:nvSpPr>
        <p:spPr>
          <a:xfrm>
            <a:off x="2743200" y="128016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Group title 1"/>
          <p:cNvSpPr txBox="1"/>
          <p:nvPr/>
        </p:nvSpPr>
        <p:spPr>
          <a:xfrm>
            <a:off x="2880360" y="1353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Health &amp; Metadata</a:t>
            </a:r>
            <a:endParaRPr lang="en-US" sz="1400" dirty="0"/>
          </a:p>
        </p:txBody>
      </p:sp>
      <p:sp>
        <p:nvSpPr>
          <p:cNvPr id="8" name="Group endpoints 1"/>
          <p:cNvSpPr txBox="1"/>
          <p:nvPr/>
        </p:nvSpPr>
        <p:spPr>
          <a:xfrm>
            <a:off x="2880360" y="16642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/companies/{ticker}</a:t>
            </a:r>
            <a:endParaRPr lang="en-US" sz="1200" dirty="0"/>
          </a:p>
        </p:txBody>
      </p:sp>
      <p:sp>
        <p:nvSpPr>
          <p:cNvPr id="9" name="Group card 2"/>
          <p:cNvSpPr/>
          <p:nvPr/>
        </p:nvSpPr>
        <p:spPr>
          <a:xfrm>
            <a:off x="5806440" y="128016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Group title 2"/>
          <p:cNvSpPr txBox="1"/>
          <p:nvPr/>
        </p:nvSpPr>
        <p:spPr>
          <a:xfrm>
            <a:off x="5943600" y="1353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Financial Statements</a:t>
            </a:r>
            <a:endParaRPr lang="en-US" sz="1400" dirty="0"/>
          </a:p>
        </p:txBody>
      </p:sp>
      <p:sp>
        <p:nvSpPr>
          <p:cNvPr id="11" name="Group endpoints 2"/>
          <p:cNvSpPr txBox="1"/>
          <p:nvPr/>
        </p:nvSpPr>
        <p:spPr>
          <a:xfrm>
            <a:off x="5943600" y="16642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/cashflow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/ratios</a:t>
            </a:r>
            <a:endParaRPr lang="en-US" sz="1200" dirty="0"/>
          </a:p>
        </p:txBody>
      </p:sp>
      <p:sp>
        <p:nvSpPr>
          <p:cNvPr id="12" name="Group card 3"/>
          <p:cNvSpPr/>
          <p:nvPr/>
        </p:nvSpPr>
        <p:spPr>
          <a:xfrm>
            <a:off x="2743200" y="278892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Group title 3"/>
          <p:cNvSpPr txBox="1"/>
          <p:nvPr/>
        </p:nvSpPr>
        <p:spPr>
          <a:xfrm>
            <a:off x="2880360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Intelligence &amp; Screener</a:t>
            </a:r>
            <a:endParaRPr lang="en-US" sz="1400" dirty="0"/>
          </a:p>
        </p:txBody>
      </p:sp>
      <p:sp>
        <p:nvSpPr>
          <p:cNvPr id="14" name="Group endpoints 3"/>
          <p:cNvSpPr txBox="1"/>
          <p:nvPr/>
        </p:nvSpPr>
        <p:spPr>
          <a:xfrm>
            <a:off x="2880360" y="31729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/screener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/peers/compare</a:t>
            </a:r>
            <a:endParaRPr lang="en-US" sz="1200" dirty="0"/>
          </a:p>
        </p:txBody>
      </p:sp>
      <p:sp>
        <p:nvSpPr>
          <p:cNvPr id="15" name="Group card 4"/>
          <p:cNvSpPr/>
          <p:nvPr/>
        </p:nvSpPr>
        <p:spPr>
          <a:xfrm>
            <a:off x="5806440" y="278892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Group title 4"/>
          <p:cNvSpPr txBox="1"/>
          <p:nvPr/>
        </p:nvSpPr>
        <p:spPr>
          <a:xfrm>
            <a:off x="5943600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Multiples &amp; Downloads</a:t>
            </a:r>
            <a:endParaRPr lang="en-US" sz="1400" dirty="0"/>
          </a:p>
        </p:txBody>
      </p:sp>
      <p:sp>
        <p:nvSpPr>
          <p:cNvPr id="17" name="Group endpoints 4"/>
          <p:cNvSpPr txBox="1"/>
          <p:nvPr/>
        </p:nvSpPr>
        <p:spPr>
          <a:xfrm>
            <a:off x="5943600" y="31729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/market-cap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/portfolio/stats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/documents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/tearsheet</a:t>
            </a:r>
            <a:endParaRPr lang="en-US" sz="1200" dirty="0"/>
          </a:p>
        </p:txBody>
      </p:sp>
      <p:sp>
        <p:nvSpPr>
          <p:cNvPr id="18" name="Features strip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</p:sp>
      <p:sp>
        <p:nvSpPr>
          <p:cNvPr id="19" name="Features strip text"/>
          <p:cNvSpPr txBox="1"/>
          <p:nvPr/>
        </p:nvSpPr>
        <p:spPr>
          <a:xfrm>
            <a:off x="548640" y="4297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CORS enabled · sub-second execution · X-Process-Time headers · binary PDF streaming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Quality Assurance &amp; Testing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801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594360" y="1280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130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1691640" y="1280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tests passed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457200" y="233172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594360" y="2331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</a:t>
            </a:r>
            <a:endParaRPr lang="en-US" sz="4000" dirty="0"/>
          </a:p>
        </p:txBody>
      </p:sp>
      <p:sp>
        <p:nvSpPr>
          <p:cNvPr id="8" name="Stat label 2"/>
          <p:cNvSpPr txBox="1"/>
          <p:nvPr/>
        </p:nvSpPr>
        <p:spPr>
          <a:xfrm>
            <a:off x="1691640" y="23317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failed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457200" y="33832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594360" y="33832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0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1691640" y="33832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regressions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291840" y="1234440"/>
          <a:ext cx="53949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Artifact caption"/>
          <p:cNvSpPr txBox="1"/>
          <p:nvPr/>
        </p:nvSpPr>
        <p:spPr>
          <a:xfrm>
            <a:off x="329184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Artifact: pytest_report.html (110 KB)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Final Delivery Sign-Off</a:t>
            </a:r>
            <a:endParaRPr lang="en-US" sz="3600" dirty="0"/>
          </a:p>
        </p:txBody>
      </p:sp>
      <p:sp>
        <p:nvSpPr>
          <p:cNvPr id="3" name="Sign-off card 1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accent1"/>
          </a:solidFill>
          <a:ln/>
        </p:spPr>
      </p:sp>
      <p:sp>
        <p:nvSpPr>
          <p:cNvPr id="4" name="Sign-off stat 1"/>
          <p:cNvSpPr txBox="1"/>
          <p:nvPr/>
        </p:nvSpPr>
        <p:spPr>
          <a:xfrm>
            <a:off x="64008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10</a:t>
            </a:r>
            <a:endParaRPr lang="en-US" sz="6600" dirty="0"/>
          </a:p>
        </p:txBody>
      </p:sp>
      <p:sp>
        <p:nvSpPr>
          <p:cNvPr id="5" name="Sign-off label 1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Analyst Guide sections</a:t>
            </a:r>
            <a:endParaRPr lang="en-US" sz="1800" dirty="0"/>
          </a:p>
        </p:txBody>
      </p:sp>
      <p:sp>
        <p:nvSpPr>
          <p:cNvPr id="6" name="Sign-off detail 1"/>
          <p:cNvSpPr txBox="1"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Screener, valuation models, tearsheets and API usage</a:t>
            </a:r>
            <a:endParaRPr lang="en-US" sz="1400" dirty="0"/>
          </a:p>
        </p:txBody>
      </p:sp>
      <p:sp>
        <p:nvSpPr>
          <p:cNvPr id="7" name="Sign-off card 2"/>
          <p:cNvSpPr/>
          <p:nvPr/>
        </p:nvSpPr>
        <p:spPr>
          <a:xfrm>
            <a:off x="333756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accent1"/>
          </a:solidFill>
          <a:ln/>
        </p:spPr>
      </p:sp>
      <p:sp>
        <p:nvSpPr>
          <p:cNvPr id="8" name="Sign-off stat 2"/>
          <p:cNvSpPr txBox="1"/>
          <p:nvPr/>
        </p:nvSpPr>
        <p:spPr>
          <a:xfrm>
            <a:off x="352044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17</a:t>
            </a:r>
            <a:endParaRPr lang="en-US" sz="6600" dirty="0"/>
          </a:p>
        </p:txBody>
      </p:sp>
      <p:sp>
        <p:nvSpPr>
          <p:cNvPr id="9" name="Sign-off label 2"/>
          <p:cNvSpPr txBox="1"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Acceptance gates</a:t>
            </a:r>
            <a:endParaRPr lang="en-US" sz="1800" dirty="0"/>
          </a:p>
        </p:txBody>
      </p:sp>
      <p:sp>
        <p:nvSpPr>
          <p:cNvPr id="10" name="Sign-off detail 2"/>
          <p:cNvSpPr txBox="1"/>
          <p:nvPr/>
        </p:nvSpPr>
        <p:spPr>
          <a:xfrm>
            <a:off x="352044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Project gates evaluated and verified</a:t>
            </a:r>
            <a:endParaRPr lang="en-US" sz="1400" dirty="0"/>
          </a:p>
        </p:txBody>
      </p:sp>
      <p:sp>
        <p:nvSpPr>
          <p:cNvPr id="11" name="Sign-off card 3"/>
          <p:cNvSpPr/>
          <p:nvPr/>
        </p:nvSpPr>
        <p:spPr>
          <a:xfrm>
            <a:off x="621792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accent1"/>
          </a:solidFill>
          <a:ln/>
        </p:spPr>
      </p:sp>
      <p:sp>
        <p:nvSpPr>
          <p:cNvPr id="12" name="Sign-off stat 3"/>
          <p:cNvSpPr txBox="1"/>
          <p:nvPr/>
        </p:nvSpPr>
        <p:spPr>
          <a:xfrm>
            <a:off x="64008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23</a:t>
            </a:r>
            <a:endParaRPr lang="en-US" sz="6600" dirty="0"/>
          </a:p>
        </p:txBody>
      </p:sp>
      <p:sp>
        <p:nvSpPr>
          <p:cNvPr id="13" name="Sign-off label 3"/>
          <p:cNvSpPr txBox="1"/>
          <p:nvPr/>
        </p:nvSpPr>
        <p:spPr>
          <a:xfrm>
            <a:off x="64008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Deliverables</a:t>
            </a:r>
            <a:endParaRPr lang="en-US" sz="1800" dirty="0"/>
          </a:p>
        </p:txBody>
      </p:sp>
      <p:sp>
        <p:nvSpPr>
          <p:cNvPr id="14" name="Sign-off detail 3"/>
          <p:cNvSpPr txBox="1"/>
          <p:nvPr/>
        </p:nvSpPr>
        <p:spPr>
          <a:xfrm>
            <a:off x="640080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All completed and packaged</a:t>
            </a:r>
            <a:endParaRPr lang="en-US" sz="1400" dirty="0"/>
          </a:p>
        </p:txBody>
      </p:sp>
      <p:sp>
        <p:nvSpPr>
          <p:cNvPr id="15" name="Closing line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analyst_guide.pdf · acceptance_checklist.pdf · Capstone delivery ready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stock Ledger">
  <a:themeElements>
    <a:clrScheme name="Bluestock Ledger">
      <a:dk1>
        <a:srgbClr val="10252B"/>
      </a:dk1>
      <a:lt1>
        <a:srgbClr val="FFFFFF"/>
      </a:lt1>
      <a:dk2>
        <a:srgbClr val="0B3C49"/>
      </a:dk2>
      <a:lt2>
        <a:srgbClr val="EAF1F0"/>
      </a:lt2>
      <a:accent1>
        <a:srgbClr val="0B7A75"/>
      </a:accent1>
      <a:accent2>
        <a:srgbClr val="E0A526"/>
      </a:accent2>
      <a:accent3>
        <a:srgbClr val="3E7CB1"/>
      </a:accent3>
      <a:accent4>
        <a:srgbClr val="C8553D"/>
      </a:accent4>
      <a:accent5>
        <a:srgbClr val="6C8E5A"/>
      </a:accent5>
      <a:accent6>
        <a:srgbClr val="7A6C9C"/>
      </a:accent6>
      <a:hlink>
        <a:srgbClr val="0B7A75"/>
      </a:hlink>
      <a:folHlink>
        <a:srgbClr val="7A6C9C"/>
      </a:folHlink>
    </a:clrScheme>
    <a:fontScheme name="Bluestock 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100 Financial Intelligence – Sprint 6 Final Delivery</dc:title>
  <dc:subject>PptxGenJS Presentation</dc:subject>
  <dc:creator>PptxGenJS</dc:creator>
  <cp:lastModifiedBy>PptxGenJS</cp:lastModifiedBy>
  <cp:revision>1</cp:revision>
  <dcterms:created xsi:type="dcterms:W3CDTF">2026-10-27T13:16:56Z</dcterms:created>
  <dcterms:modified xsi:type="dcterms:W3CDTF">2026-10-27T13:16:56Z</dcterms:modified>
</cp:coreProperties>
</file>