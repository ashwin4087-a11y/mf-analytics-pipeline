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4F1E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4F1EA"/>
                </a:solidFill>
                <a:latin typeface="Arial"/>
              </a:rPr>
              <a:t>Pillar weights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4F1E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Profitability</c:v>
                  </c:pt>
                  <c:pt idx="1">
                    <c:v>Cash Quality</c:v>
                  </c:pt>
                  <c:pt idx="2">
                    <c:v>Growth</c:v>
                  </c:pt>
                  <c:pt idx="3">
                    <c:v>Leverage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4F1E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Company (illustrative)</c:v>
                </c:pt>
              </c:strCache>
            </c:strRef>
          </c:tx>
          <c:spPr>
            <a:solidFill>
              <a:srgbClr val="4DA3FF"/>
            </a:solidFill>
            <a:ln w="31750" cap="flat">
              <a:solidFill>
                <a:srgbClr val="4DA3F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4DA3FF"/>
              </a:solidFill>
              <a:ln w="9525" cap="flat">
                <a:solidFill>
                  <a:srgbClr val="4DA3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ROE</c:v>
                  </c:pt>
                  <c:pt idx="1">
                    <c:v>ROCE</c:v>
                  </c:pt>
                  <c:pt idx="2">
                    <c:v>NPM</c:v>
                  </c:pt>
                  <c:pt idx="3">
                    <c:v>D/E</c:v>
                  </c:pt>
                  <c:pt idx="4">
                    <c:v>FCF</c:v>
                  </c:pt>
                  <c:pt idx="5">
                    <c:v>PAT CAGR</c:v>
                  </c:pt>
                  <c:pt idx="6">
                    <c:v>Rev CAGR</c:v>
                  </c:pt>
                  <c:pt idx="7">
                    <c:v>Score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85</c:v>
                </c:pt>
                <c:pt idx="1">
                  <c:v>70</c:v>
                </c:pt>
                <c:pt idx="2">
                  <c:v>80</c:v>
                </c:pt>
                <c:pt idx="3">
                  <c:v>60</c:v>
                </c:pt>
                <c:pt idx="4">
                  <c:v>75</c:v>
                </c:pt>
                <c:pt idx="5">
                  <c:v>90</c:v>
                </c:pt>
                <c:pt idx="6">
                  <c:v>65</c:v>
                </c:pt>
                <c:pt idx="7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average (illustrative)</c:v>
                </c:pt>
              </c:strCache>
            </c:strRef>
          </c:tx>
          <c:spPr>
            <a:solidFill>
              <a:srgbClr val="FF6B6B"/>
            </a:solidFill>
            <a:ln w="31750" cap="flat">
              <a:solidFill>
                <a:srgbClr val="FF6B6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ROE</c:v>
                  </c:pt>
                  <c:pt idx="1">
                    <c:v>ROCE</c:v>
                  </c:pt>
                  <c:pt idx="2">
                    <c:v>NPM</c:v>
                  </c:pt>
                  <c:pt idx="3">
                    <c:v>D/E</c:v>
                  </c:pt>
                  <c:pt idx="4">
                    <c:v>FCF</c:v>
                  </c:pt>
                  <c:pt idx="5">
                    <c:v>PAT CAGR</c:v>
                  </c:pt>
                  <c:pt idx="6">
                    <c:v>Rev CAGR</c:v>
                  </c:pt>
                  <c:pt idx="7">
                    <c:v>Score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55</c:v>
                </c:pt>
                <c:pt idx="1">
                  <c:v>50</c:v>
                </c:pt>
                <c:pt idx="2">
                  <c:v>60</c:v>
                </c:pt>
                <c:pt idx="3">
                  <c:v>50</c:v>
                </c:pt>
                <c:pt idx="4">
                  <c:v>50</c:v>
                </c:pt>
                <c:pt idx="5">
                  <c:v>55</c:v>
                </c:pt>
                <c:pt idx="6">
                  <c:v>50</c:v>
                </c:pt>
                <c:pt idx="7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1E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4F1E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sprint delivered the screener, composite scoring and peer analytics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goals: engine, presets, scoring, peer percentiles,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 live in config/screener_config.yaml; no hardcoded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Weights: profitability 35, cash quality 30, growth 20, leverage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Percentiles use Pandas rank(pct=True); D/E is inverted.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values are illustrative, not real company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457200"/>
            <a:ext cx="2926080" cy="2926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377440"/>
            <a:ext cx="1828800" cy="18288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Platform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Screener &amp; Peer Analytics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Data Engineering Intern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508760" cy="2651760"/>
          </a:xfrm>
          <a:prstGeom prst="roundRect">
            <a:avLst>
              <a:gd name="adj" fmla="val 6061"/>
            </a:avLst>
          </a:prstGeom>
          <a:solidFill>
            <a:srgbClr val="1A2B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91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 Engine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632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filterable 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76272" y="1554480"/>
            <a:ext cx="1508760" cy="2651760"/>
          </a:xfrm>
          <a:prstGeom prst="roundRect">
            <a:avLst>
              <a:gd name="adj" fmla="val 6061"/>
            </a:avLst>
          </a:prstGeom>
          <a:solidFill>
            <a:srgbClr val="1A2B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13432" y="1691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313432" y="23774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313432" y="30632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investment strategies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03904" y="1554480"/>
            <a:ext cx="1508760" cy="2651760"/>
          </a:xfrm>
          <a:prstGeom prst="roundRect">
            <a:avLst>
              <a:gd name="adj" fmla="val 6061"/>
            </a:avLst>
          </a:prstGeom>
          <a:solidFill>
            <a:srgbClr val="1A2B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41064" y="1691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941064" y="23774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41064" y="30632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0-100 model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31536" y="1554480"/>
            <a:ext cx="1508760" cy="2651760"/>
          </a:xfrm>
          <a:prstGeom prst="roundRect">
            <a:avLst>
              <a:gd name="adj" fmla="val 6061"/>
            </a:avLst>
          </a:prstGeom>
          <a:solidFill>
            <a:srgbClr val="1A2B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68696" y="1691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568696" y="23774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Ranks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68696" y="30632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Percentiles across 11 groups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59168" y="1554480"/>
            <a:ext cx="1508760" cy="2651760"/>
          </a:xfrm>
          <a:prstGeom prst="roundRect">
            <a:avLst>
              <a:gd name="adj" fmla="val 6061"/>
            </a:avLst>
          </a:prstGeom>
          <a:solidFill>
            <a:srgbClr val="1A2B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96328" y="1691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7196328" y="23774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96328" y="30632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sheets and radar charts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 Engine &amp; Presets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Configuration-driven: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thresholds, tuned without code changes.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filters: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limits (PE &lt; 20) and trends (D/E declining).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presets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delivered, each with its own worksheet.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80560" y="146304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Compounder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0" y="146304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F4A2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6656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Pick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242316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2EC4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423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Accelerator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0" y="242316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F4A2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2423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Champion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80560" y="338328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2EC4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3383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Debt-Free Blue Chip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75120" y="338328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F4A2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0" y="33832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Watch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Quality Score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normalised score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four weighted pillars.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Winsorization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distortion from extreme outliers.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Sector-relative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keeps comparisons fair.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297680" y="1371600"/>
          <a:ext cx="4389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Percentile Analysis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A2B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ranked per company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64408" y="13716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A2B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47288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groups plus a fallback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0176" y="137160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A2B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63056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1.0 - rank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163056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inverts D/E: lower debt scores higher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peer_comparison.xlsx quartile formatting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3FB6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quartile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578608" y="365760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2C9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578608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08576" y="365760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560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08576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38544" y="365760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D4AF3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38544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radar charts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company footprint (blue) is overlaid on the peer group average (red dashed). Metrics: ROE, ROCE, NPM, D/E, FCF, PAT CAGR, Rev CAGR, Composite Score.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297680" y="1097280"/>
          <a:ext cx="4480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C4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Final Sign-Off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 integrates Sprint 1 (Data) and Sprint 2 (Ratios).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architecture for future metrics and presets.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2 Excel reports and 100 radar charts.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Nifty 100 Financial Intelligence Platform - Sprint 3</dc:title>
  <dc:subject>PptxGenJS Presentation</dc:subject>
  <dc:creator>PptxGenJS</dc:creator>
  <cp:lastModifiedBy>PptxGenJS</cp:lastModifiedBy>
  <cp:revision>1</cp:revision>
  <dcterms:created xsi:type="dcterms:W3CDTF">2026-10-09T13:53:48Z</dcterms:created>
  <dcterms:modified xsi:type="dcterms:W3CDTF">2026-10-09T13:53:48Z</dcterms:modified>
</cp:coreProperties>
</file>