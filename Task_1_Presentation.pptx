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548640"/>
            <a:ext cx="3291840" cy="3291840"/>
          </a:xfrm>
          <a:prstGeom prst="ellipse">
            <a:avLst/>
          </a:prstGeom>
          <a:solidFill>
            <a:srgbClr val="2C37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Project Setup + Data Ingestion (ETL)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886968" cy="384048"/>
          </a:xfrm>
          <a:prstGeom prst="roundRect">
            <a:avLst>
              <a:gd name="adj" fmla="val 19048"/>
            </a:avLst>
          </a:prstGeom>
          <a:solidFill>
            <a:srgbClr val="2C3780"/>
          </a:solidFill>
          <a:ln w="12700">
            <a:solidFill>
              <a:srgbClr val="4A55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92808" y="4160520"/>
            <a:ext cx="886968" cy="384048"/>
          </a:xfrm>
          <a:prstGeom prst="roundRect">
            <a:avLst>
              <a:gd name="adj" fmla="val 19048"/>
            </a:avLst>
          </a:prstGeom>
          <a:solidFill>
            <a:srgbClr val="2C3780"/>
          </a:solidFill>
          <a:ln w="12700">
            <a:solidFill>
              <a:srgbClr val="4A55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92808" y="4160520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62656" y="4160520"/>
            <a:ext cx="781812" cy="384048"/>
          </a:xfrm>
          <a:prstGeom prst="roundRect">
            <a:avLst>
              <a:gd name="adj" fmla="val 19048"/>
            </a:avLst>
          </a:prstGeom>
          <a:solidFill>
            <a:srgbClr val="2C3780"/>
          </a:solidFill>
          <a:ln w="12700">
            <a:solidFill>
              <a:srgbClr val="4A55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62656" y="4160520"/>
            <a:ext cx="7818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Mutual-fund data is fragmented across NAV, AUM, SIP, holdings, benchmark and investor datasets — no unified analysis-ready view exists.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pic>
        <p:nvPicPr>
          <p:cNvPr id="9" name="Image 1" descr="icons/target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355080" y="26517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ETL pipeline that loads, validates, enriches and exports analysis-ready fund data.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355080" y="3840480"/>
            <a:ext cx="4526280" cy="0"/>
          </a:xfrm>
          <a:prstGeom prst="line">
            <a:avLst/>
          </a:prstGeom>
          <a:noFill/>
          <a:ln w="12700">
            <a:solidFill>
              <a:srgbClr val="3C479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55080" y="3977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focus: project setup, ingestion of all 10 CSVs, live NAV retrieval, fund-master understanding and AMFI-code validation.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 Inventory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provided CSV datasets covering fund master, NAV, AUM, SIP, category inflows, folios, performance, transactions, holdings and benchmarks.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51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611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98064" y="233172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98064" y="2651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3611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Mutual-fund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47488" y="233172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47488" y="2651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3611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96912" y="233172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96912" y="2651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611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46336" y="2331720"/>
            <a:ext cx="2066544" cy="2286000"/>
          </a:xfrm>
          <a:prstGeom prst="roundRect">
            <a:avLst>
              <a:gd name="adj" fmla="val 3540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46336" y="265176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8,050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656064" y="361188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1" name="Image 0" descr="icons/wifi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102352"/>
            <a:ext cx="347472" cy="34747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234440" y="49377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 </a:t>
            </a:r>
            <a:pPr indent="0" marL="0">
              <a:buNone/>
            </a:pPr>
            <a:r>
              <a:rPr lang="en-US" sz="135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public daily NAV data used for live enrichment.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pic>
        <p:nvPicPr>
          <p:cNvPr id="5" name="Image 0" descr="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57860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" y="3108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source datasets</a:t>
            </a:r>
            <a:endParaRPr lang="en-US" sz="1050" dirty="0"/>
          </a:p>
        </p:txBody>
      </p:sp>
      <p:pic>
        <p:nvPicPr>
          <p:cNvPr id="8" name="Image 1" descr="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906" y="3099816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56460" y="237744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pic>
        <p:nvPicPr>
          <p:cNvPr id="10" name="Image 2" descr="icons/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664" y="2578608"/>
            <a:ext cx="438912" cy="4389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211324" y="3108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201930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type-cast</a:t>
            </a:r>
            <a:endParaRPr lang="en-US" sz="1050" dirty="0"/>
          </a:p>
        </p:txBody>
      </p:sp>
      <p:pic>
        <p:nvPicPr>
          <p:cNvPr id="13" name="Image 3" descr="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726" y="3099816"/>
            <a:ext cx="292608" cy="29260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64280" y="237744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pic>
        <p:nvPicPr>
          <p:cNvPr id="15" name="Image 4" descr="icons/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484" y="2578608"/>
            <a:ext cx="438912" cy="43891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819144" y="3108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Cleaners</a:t>
            </a:r>
            <a:endParaRPr lang="en-US" sz="1150" dirty="0"/>
          </a:p>
        </p:txBody>
      </p:sp>
      <p:sp>
        <p:nvSpPr>
          <p:cNvPr id="17" name="Text 10"/>
          <p:cNvSpPr txBox="1"/>
          <p:nvPr/>
        </p:nvSpPr>
        <p:spPr>
          <a:xfrm>
            <a:off x="362712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normalization</a:t>
            </a:r>
            <a:endParaRPr lang="en-US" sz="1050" dirty="0"/>
          </a:p>
        </p:txBody>
      </p:sp>
      <p:pic>
        <p:nvPicPr>
          <p:cNvPr id="18" name="Image 5" descr="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546" y="3099816"/>
            <a:ext cx="292608" cy="29260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372100" y="237744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pic>
        <p:nvPicPr>
          <p:cNvPr id="20" name="Image 6" descr="icons/wif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304" y="2578608"/>
            <a:ext cx="438912" cy="43891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26964" y="3108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 Client</a:t>
            </a:r>
            <a:endParaRPr lang="en-US" sz="1150" dirty="0"/>
          </a:p>
        </p:txBody>
      </p:sp>
      <p:sp>
        <p:nvSpPr>
          <p:cNvPr id="22" name="Text 13"/>
          <p:cNvSpPr txBox="1"/>
          <p:nvPr/>
        </p:nvSpPr>
        <p:spPr>
          <a:xfrm>
            <a:off x="523494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enrichment</a:t>
            </a:r>
            <a:endParaRPr lang="en-US" sz="1050" dirty="0"/>
          </a:p>
        </p:txBody>
      </p:sp>
      <p:pic>
        <p:nvPicPr>
          <p:cNvPr id="23" name="Image 7" descr="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8366" y="3099816"/>
            <a:ext cx="292608" cy="29260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979920" y="237744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pic>
        <p:nvPicPr>
          <p:cNvPr id="25" name="Image 8" descr="icons/gitmer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9124" y="2578608"/>
            <a:ext cx="438912" cy="43891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034784" y="3108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Enrichers</a:t>
            </a:r>
            <a:endParaRPr lang="en-US" sz="1150" dirty="0"/>
          </a:p>
        </p:txBody>
      </p:sp>
      <p:sp>
        <p:nvSpPr>
          <p:cNvPr id="27" name="Text 16"/>
          <p:cNvSpPr txBox="1"/>
          <p:nvPr/>
        </p:nvSpPr>
        <p:spPr>
          <a:xfrm>
            <a:off x="684276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+ derived fields</a:t>
            </a:r>
            <a:endParaRPr lang="en-US" sz="1050" dirty="0"/>
          </a:p>
        </p:txBody>
      </p:sp>
      <p:pic>
        <p:nvPicPr>
          <p:cNvPr id="28" name="Image 9" descr="icons/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6186" y="3099816"/>
            <a:ext cx="292608" cy="292608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587740" y="237744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</p:sp>
      <p:pic>
        <p:nvPicPr>
          <p:cNvPr id="30" name="Image 10" descr="icons/sav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6944" y="2578608"/>
            <a:ext cx="438912" cy="438912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8642604" y="3108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</a:t>
            </a:r>
            <a:endParaRPr lang="en-US" sz="1150" dirty="0"/>
          </a:p>
        </p:txBody>
      </p:sp>
      <p:sp>
        <p:nvSpPr>
          <p:cNvPr id="32" name="Text 19"/>
          <p:cNvSpPr txBox="1"/>
          <p:nvPr/>
        </p:nvSpPr>
        <p:spPr>
          <a:xfrm>
            <a:off x="845058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Parquet</a:t>
            </a:r>
            <a:endParaRPr lang="en-US" sz="1050" dirty="0"/>
          </a:p>
        </p:txBody>
      </p:sp>
      <p:pic>
        <p:nvPicPr>
          <p:cNvPr id="33" name="Image 11" descr="icons/arrowr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4006" y="3099816"/>
            <a:ext cx="292608" cy="292608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10195560" y="2377440"/>
            <a:ext cx="1417320" cy="1737360"/>
          </a:xfrm>
          <a:prstGeom prst="roundRect">
            <a:avLst>
              <a:gd name="adj" fmla="val 5806"/>
            </a:avLst>
          </a:prstGeom>
          <a:solidFill>
            <a:srgbClr val="B8862E"/>
          </a:solidFill>
          <a:ln/>
        </p:spPr>
      </p:sp>
      <p:pic>
        <p:nvPicPr>
          <p:cNvPr id="35" name="Image 12" descr="icons/fold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84764" y="2578608"/>
            <a:ext cx="438912" cy="43891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0250424" y="31089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data/processed/</a:t>
            </a:r>
            <a:endParaRPr lang="en-US" sz="1150" dirty="0"/>
          </a:p>
        </p:txBody>
      </p:sp>
      <p:sp>
        <p:nvSpPr>
          <p:cNvPr id="37" name="Text 22"/>
          <p:cNvSpPr txBox="1"/>
          <p:nvPr/>
        </p:nvSpPr>
        <p:spPr>
          <a:xfrm>
            <a:off x="1005840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 outputs</a:t>
            </a:r>
            <a:endParaRPr lang="en-US" sz="1050" dirty="0"/>
          </a:p>
        </p:txBody>
      </p:sp>
      <p:sp>
        <p:nvSpPr>
          <p:cNvPr id="38" name="Text 2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pipeline: each stage consumes the previous stage's typed, validated output.</a:t>
            </a:r>
            <a:endParaRPr lang="en-US" sz="1300" dirty="0"/>
          </a:p>
        </p:txBody>
      </p:sp>
      <p:sp>
        <p:nvSpPr>
          <p:cNvPr id="39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40" name="Text 2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pic>
        <p:nvPicPr>
          <p:cNvPr id="5" name="Image 0" descr="icons/settings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007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54533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8196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constants and MFAPI endpoint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3134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pic>
        <p:nvPicPr>
          <p:cNvPr id="9" name="Image 1" descr="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41401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22585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loaders.py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70432" y="25328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CSV loaders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266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pic>
        <p:nvPicPr>
          <p:cNvPr id="13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12724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0432" y="29718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cleaners.py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70432" y="3246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cleaning and validation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73989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pic>
        <p:nvPicPr>
          <p:cNvPr id="17" name="Image 3" descr="icons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8404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70432" y="36850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mfapi_client.py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170432" y="39593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API client with timeout/retry handling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160020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pic>
        <p:nvPicPr>
          <p:cNvPr id="21" name="Image 4" descr="icons/gitmer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70078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85432" y="154533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enrichers.py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885432" y="18196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joins and derived metrics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63640" y="23134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pic>
        <p:nvPicPr>
          <p:cNvPr id="25" name="Image 5" descr="icons/sa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414016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85432" y="22585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writers.py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6885432" y="25328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CSV/Parquet output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263640" y="30266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pic>
        <p:nvPicPr>
          <p:cNvPr id="29" name="Image 6" descr="icons/play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127248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885432" y="29718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data_ingestion.py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6885432" y="3246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orchestration entry point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0020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normalization and date parsing across tables.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01752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checks and AMFI-code integrity checks.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4434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1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3600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44348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transaction amounts and transaction types.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63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4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0136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95160" y="160020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fund expense ratios and exit loads.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263640" y="30175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17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218688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95160" y="301752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weight checks by fund.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263640" y="44348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20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636008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95160" y="443484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YoY growth gaps are computed from historical SIP inflows.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NAV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109728" cy="109728"/>
          </a:xfrm>
          <a:prstGeom prst="ellipse">
            <a:avLst/>
          </a:prstGeom>
          <a:solidFill>
            <a:srgbClr val="B886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190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reads NAV observations from the JSON response and converts them into structured rows.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B886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6791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key: (amfi_code, date) — prevents duplicate NAV observations.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22192"/>
            <a:ext cx="109728" cy="109728"/>
          </a:xfrm>
          <a:prstGeom prst="ellipse">
            <a:avLst/>
          </a:prstGeom>
          <a:solidFill>
            <a:srgbClr val="B886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6393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remains available when the API cannot be reached.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630936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8920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api.mfapi.in/mf/{amfi_code}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0" y="169164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pic>
        <p:nvPicPr>
          <p:cNvPr id="13" name="Image 0" descr="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2103120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315200" y="2880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637</a:t>
            </a:r>
            <a:endParaRPr lang="en-US" sz="58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3840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rows fetched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863840" y="4434840"/>
            <a:ext cx="3200400" cy="0"/>
          </a:xfrm>
          <a:prstGeom prst="line">
            <a:avLst/>
          </a:prstGeom>
          <a:noFill/>
          <a:ln w="12700">
            <a:solidFill>
              <a:srgbClr val="3C47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4617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40 funds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Processed Outputs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funds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46,637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performance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transactions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holdings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market_summary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benchmark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A2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0020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pic>
        <p:nvPicPr>
          <p:cNvPr id="6" name="Image 0" descr="icons/folder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9202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analysis-ready tables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2560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is written to both CSV and Parquet, joined on amfi_code and ready for downstream SQL and EDA work.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183880" y="3977640"/>
            <a:ext cx="315468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83880" y="4160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~80,470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4800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processed rows across all outputs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252F70"/>
          </a:solidFill>
          <a:ln/>
        </p:spPr>
      </p:sp>
      <p:pic>
        <p:nvPicPr>
          <p:cNvPr id="5" name="Image 0" descr="icons/check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56816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8308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execution completed successfully.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7919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252F70"/>
          </a:solidFill>
          <a:ln/>
        </p:spPr>
      </p:sp>
      <p:pic>
        <p:nvPicPr>
          <p:cNvPr id="8" name="Image 1" descr="icons/check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52928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67919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raw CSVs loaded without errors.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57530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252F70"/>
          </a:solidFill>
          <a:ln/>
        </p:spPr>
      </p:sp>
      <p:pic>
        <p:nvPicPr>
          <p:cNvPr id="11" name="Image 2" descr="icons/check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57530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were present in the inspected raw datasets.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47141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252F70"/>
          </a:solidFill>
          <a:ln/>
        </p:spPr>
      </p:sp>
      <p:pic>
        <p:nvPicPr>
          <p:cNvPr id="14" name="Image 3" descr="icons/check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45152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447141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execution successfully appended/upserted live NAV observations.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536752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252F70"/>
          </a:solidFill>
          <a:ln/>
        </p:spPr>
      </p:sp>
      <p:pic>
        <p:nvPicPr>
          <p:cNvPr id="17" name="Image 4" descr="icons/check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41264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536752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datasets were written in both CSV and Parquet formats.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pic>
        <p:nvPicPr>
          <p:cNvPr id="6" name="Image 0" descr="icons/refresh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51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converts fragmented raw mutual-fund datasets into consistent, typed and validated outputs.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pic>
        <p:nvPicPr>
          <p:cNvPr id="10" name="Image 1" descr="icons/key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9397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2651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code is the central identifier for joining fund-related data.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pic>
        <p:nvPicPr>
          <p:cNvPr id="14" name="Image 2" descr="icons/wi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4281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2960" y="4800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integration makes the NAV layer refreshable beyond the supplied historical file.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640" y="38404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3796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pic>
        <p:nvPicPr>
          <p:cNvPr id="18" name="Image 3" descr="icons/barchart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24281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4800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datasets are ready for the next stages: SQL, EDA, performance analytics and dashboarding.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4937760"/>
            <a:ext cx="3291840" cy="3291840"/>
          </a:xfrm>
          <a:prstGeom prst="ellipse">
            <a:avLst/>
          </a:prstGeom>
          <a:solidFill>
            <a:srgbClr val="2C37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Project Setup + Data Ingestion (ETL)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4343400"/>
            <a:ext cx="3840480" cy="0"/>
          </a:xfrm>
          <a:prstGeom prst="line">
            <a:avLst/>
          </a:prstGeom>
          <a:noFill/>
          <a:ln w="12700">
            <a:solidFill>
              <a:srgbClr val="3C47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STAGE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+ SQL Database Design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2026-09-12T07:43:54Z</dcterms:created>
  <dcterms:modified xsi:type="dcterms:W3CDTF">2026-09-12T07:43:54Z</dcterms:modified>
</cp:coreProperties>
</file>