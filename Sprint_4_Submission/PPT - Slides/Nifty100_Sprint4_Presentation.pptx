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1c12fdf-9a5b-76a3-43e5-9778d3d99f5e}">
          <p14:sldIdLst>
            <p14:sldId id="256"/>
          </p14:sldIdLst>
        </p14:section>
        <p14:section name="Dashboard" id="{967de638-e604-aca8-5b7b-2076a7986c57}">
          <p14:sldIdLst>
            <p14:sldId id="257"/>
            <p14:sldId id="258"/>
            <p14:sldId id="259"/>
            <p14:sldId id="260"/>
          </p14:sldIdLst>
        </p14:section>
        <p14:section name="Valuation" id="{e9c43806-c240-14a7-06e7-aa900f4cf88d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5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2530"/>
                </a:solidFill>
                <a:latin typeface="+mn-lt"/>
              </a:rPr>
              <a:t>Automated Anomaly Flags (companies)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Companies</c:v>
                </c:pt>
              </c:strCache>
            </c:strRef>
          </c:tx>
          <c:spPr>
            <a:solidFill>
              <a:srgbClr val="0E8C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B25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8C8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A8F9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A03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Discount</c:v>
                  </c:pt>
                  <c:pt idx="1">
                    <c:v>Fair</c:v>
                  </c:pt>
                  <c:pt idx="2">
                    <c:v>Caution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48</c:v>
                </c:pt>
                <c:pt idx="2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0B25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B25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Sprint 4 delivery: the 8-screen Streamlit dashboard and the automated valuation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building blocks: the multi-page Streamlit app, the valuation pipeline, and a cached SQLite connector for fast queries.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 screen: five headline KPIs, a year filter covering 2019–2024, and sector weighting charts.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Profile screen shows long-run revenue/profit; trends screen layers margins and ROCE; balance sheet view shows capital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Screener: 10 sliders, 6 presets. Peers: radar benchmarking against 11 designated industry cohorts.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Flags: 30 Discount, 48 Fair, 14 Caution — 92 companies in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Acceptance: 8 screens operational, valuation outputs generated, zero regressions.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80360"/>
            <a:ext cx="7315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TOP">
    <p:bg>
      <p:bgPr>
        <a:solidFill>
          <a:srgbClr val="0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400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554480"/>
            <a:ext cx="73152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731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6"/>
                </a:solidFill>
              </a:rPr>
              <a:t>SPRINT 4  ·  DAYS 22–28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Nifty 100 Financial Intelligence — Sprint 4 Delivery</a:t>
            </a:r>
            <a:endParaRPr lang="en-US" sz="3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2880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Interactive Streamlit Dashboard (8 Screens) &amp; Automated Valuation Engine</a:t>
            </a:r>
            <a:endParaRPr lang="en-US" sz="1800" dirty="0"/>
          </a:p>
        </p:txBody>
      </p:sp>
      <p:sp>
        <p:nvSpPr>
          <p:cNvPr id="5" name="Presenter"/>
          <p:cNvSpPr txBox="1"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Engineering &amp; Quantitative Analytics Team  ·  Bluestock Mutual Fund Analytics Division</a:t>
            </a:r>
            <a:endParaRPr lang="en-US" sz="1300" dirty="0"/>
          </a:p>
        </p:txBody>
      </p:sp>
      <p:sp>
        <p:nvSpPr>
          <p:cNvPr id="6" name="Motif 0"/>
          <p:cNvSpPr/>
          <p:nvPr/>
        </p:nvSpPr>
        <p:spPr>
          <a:xfrm>
            <a:off x="7589520" y="457200"/>
            <a:ext cx="822960" cy="822960"/>
          </a:xfrm>
          <a:prstGeom prst="ellipse">
            <a:avLst/>
          </a:prstGeom>
          <a:solidFill>
            <a:schemeClr val="accent1">
              <a:alpha val="70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7" name="Motif 1"/>
          <p:cNvSpPr/>
          <p:nvPr/>
        </p:nvSpPr>
        <p:spPr>
          <a:xfrm>
            <a:off x="8138160" y="1097280"/>
            <a:ext cx="457200" cy="457200"/>
          </a:xfrm>
          <a:prstGeom prst="ellipse">
            <a:avLst/>
          </a:prstGeom>
          <a:solidFill>
            <a:schemeClr val="accent1">
              <a:alpha val="40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</p:sp>
      <p:sp>
        <p:nvSpPr>
          <p:cNvPr id="8" name="Motif 2"/>
          <p:cNvSpPr/>
          <p:nvPr/>
        </p:nvSpPr>
        <p:spPr>
          <a:xfrm>
            <a:off x="7315200" y="1188720"/>
            <a:ext cx="320040" cy="320040"/>
          </a:xfrm>
          <a:prstGeom prst="ellipse">
            <a:avLst/>
          </a:prstGeom>
          <a:solidFill>
            <a:schemeClr val="accent1">
              <a:alpha val="40000"/>
            </a:schemeClr>
          </a:solidFill>
          <a:ln w="12700">
            <a:solidFill>
              <a:schemeClr val="accent1">
                <a:alpha val="50000"/>
              </a:scheme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Sprint 4 Objectives &amp; Architecture</a:t>
            </a:r>
            <a:endParaRPr lang="en-US" sz="3000" dirty="0"/>
          </a:p>
        </p:txBody>
      </p:sp>
      <p:sp>
        <p:nvSpPr>
          <p:cNvPr id="3" name="Goal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Transform the structured database into an intuitive, responsive analytics cockpit.</a:t>
            </a:r>
            <a:endParaRPr lang="en-US" sz="1600" dirty="0"/>
          </a:p>
        </p:txBody>
      </p:sp>
      <p:sp>
        <p:nvSpPr>
          <p:cNvPr id="4" name="Card 1"/>
          <p:cNvSpPr/>
          <p:nvPr/>
        </p:nvSpPr>
        <p:spPr>
          <a:xfrm>
            <a:off x="457200" y="1828800"/>
            <a:ext cx="25603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adge 1"/>
          <p:cNvSpPr txBox="1"/>
          <p:nvPr/>
        </p:nvSpPr>
        <p:spPr>
          <a:xfrm>
            <a:off x="685800" y="2057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CardTitle 1"/>
          <p:cNvSpPr txBox="1"/>
          <p:nvPr/>
        </p:nvSpPr>
        <p:spPr>
          <a:xfrm>
            <a:off x="685800" y="2743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Streamlit Multi-Page Framework</a:t>
            </a:r>
            <a:endParaRPr lang="en-US" sz="1800" dirty="0"/>
          </a:p>
        </p:txBody>
      </p:sp>
      <p:sp>
        <p:nvSpPr>
          <p:cNvPr id="7" name="CardSub 1"/>
          <p:cNvSpPr txBox="1"/>
          <p:nvPr/>
        </p:nvSpPr>
        <p:spPr>
          <a:xfrm>
            <a:off x="685800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src/dashboard/app.py</a:t>
            </a:r>
            <a:endParaRPr lang="en-US" sz="1200" dirty="0"/>
          </a:p>
        </p:txBody>
      </p:sp>
      <p:sp>
        <p:nvSpPr>
          <p:cNvPr id="8" name="Card 2"/>
          <p:cNvSpPr/>
          <p:nvPr/>
        </p:nvSpPr>
        <p:spPr>
          <a:xfrm>
            <a:off x="3291840" y="1828800"/>
            <a:ext cx="25603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 2"/>
          <p:cNvSpPr txBox="1"/>
          <p:nvPr/>
        </p:nvSpPr>
        <p:spPr>
          <a:xfrm>
            <a:off x="3520440" y="2057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CardTitle 2"/>
          <p:cNvSpPr txBox="1"/>
          <p:nvPr/>
        </p:nvSpPr>
        <p:spPr>
          <a:xfrm>
            <a:off x="3520440" y="2743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Valuation Multiples &amp; Flagging Pipeline</a:t>
            </a:r>
            <a:endParaRPr lang="en-US" sz="1800" dirty="0"/>
          </a:p>
        </p:txBody>
      </p:sp>
      <p:sp>
        <p:nvSpPr>
          <p:cNvPr id="11" name="CardSub 2"/>
          <p:cNvSpPr txBox="1"/>
          <p:nvPr/>
        </p:nvSpPr>
        <p:spPr>
          <a:xfrm>
            <a:off x="3520440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src/analytics/valuation.py</a:t>
            </a:r>
            <a:endParaRPr lang="en-US" sz="1200" dirty="0"/>
          </a:p>
        </p:txBody>
      </p:sp>
      <p:sp>
        <p:nvSpPr>
          <p:cNvPr id="12" name="Card 3"/>
          <p:cNvSpPr/>
          <p:nvPr/>
        </p:nvSpPr>
        <p:spPr>
          <a:xfrm>
            <a:off x="6126480" y="1828800"/>
            <a:ext cx="256032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Badge 3"/>
          <p:cNvSpPr txBox="1"/>
          <p:nvPr/>
        </p:nvSpPr>
        <p:spPr>
          <a:xfrm>
            <a:off x="6355080" y="20574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CardTitle 3"/>
          <p:cNvSpPr txBox="1"/>
          <p:nvPr/>
        </p:nvSpPr>
        <p:spPr>
          <a:xfrm>
            <a:off x="6355080" y="27432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High-Performance Data Layer</a:t>
            </a:r>
            <a:endParaRPr lang="en-US" sz="1800" dirty="0"/>
          </a:p>
        </p:txBody>
      </p:sp>
      <p:sp>
        <p:nvSpPr>
          <p:cNvPr id="15" name="CardSub 3"/>
          <p:cNvSpPr txBox="1"/>
          <p:nvPr/>
        </p:nvSpPr>
        <p:spPr>
          <a:xfrm>
            <a:off x="6355080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 cached query connector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Executive Overview Screen (01 Home)</a:t>
            </a:r>
            <a:endParaRPr lang="en-US" sz="3000" dirty="0"/>
          </a:p>
        </p:txBody>
      </p:sp>
      <p:sp>
        <p:nvSpPr>
          <p:cNvPr id="3" name="KPI label"/>
          <p:cNvSpPr txBox="1"/>
          <p:nvPr/>
        </p:nvSpPr>
        <p:spPr>
          <a:xfrm>
            <a:off x="45720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REAL-TIME KPIs</a:t>
            </a:r>
            <a:endParaRPr lang="en-US" sz="1200" dirty="0"/>
          </a:p>
        </p:txBody>
      </p:sp>
      <p:sp>
        <p:nvSpPr>
          <p:cNvPr id="4" name="KPI 0"/>
          <p:cNvSpPr/>
          <p:nvPr/>
        </p:nvSpPr>
        <p:spPr>
          <a:xfrm>
            <a:off x="457200" y="1463040"/>
            <a:ext cx="1536192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KPI text 0"/>
          <p:cNvSpPr txBox="1"/>
          <p:nvPr/>
        </p:nvSpPr>
        <p:spPr>
          <a:xfrm>
            <a:off x="548640" y="1463040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Average ROE</a:t>
            </a:r>
            <a:endParaRPr lang="en-US" sz="1500" dirty="0"/>
          </a:p>
        </p:txBody>
      </p:sp>
      <p:sp>
        <p:nvSpPr>
          <p:cNvPr id="6" name="KPI 1"/>
          <p:cNvSpPr/>
          <p:nvPr/>
        </p:nvSpPr>
        <p:spPr>
          <a:xfrm>
            <a:off x="2139696" y="1463040"/>
            <a:ext cx="1536192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KPI text 1"/>
          <p:cNvSpPr txBox="1"/>
          <p:nvPr/>
        </p:nvSpPr>
        <p:spPr>
          <a:xfrm>
            <a:off x="2231136" y="1463040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Median P/E</a:t>
            </a:r>
            <a:endParaRPr lang="en-US" sz="1500" dirty="0"/>
          </a:p>
        </p:txBody>
      </p:sp>
      <p:sp>
        <p:nvSpPr>
          <p:cNvPr id="8" name="KPI 2"/>
          <p:cNvSpPr/>
          <p:nvPr/>
        </p:nvSpPr>
        <p:spPr>
          <a:xfrm>
            <a:off x="3822192" y="1463040"/>
            <a:ext cx="1536192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KPI text 2"/>
          <p:cNvSpPr txBox="1"/>
          <p:nvPr/>
        </p:nvSpPr>
        <p:spPr>
          <a:xfrm>
            <a:off x="3913632" y="1463040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Median D/E</a:t>
            </a:r>
            <a:endParaRPr lang="en-US" sz="1500" dirty="0"/>
          </a:p>
        </p:txBody>
      </p:sp>
      <p:sp>
        <p:nvSpPr>
          <p:cNvPr id="10" name="KPI 3"/>
          <p:cNvSpPr/>
          <p:nvPr/>
        </p:nvSpPr>
        <p:spPr>
          <a:xfrm>
            <a:off x="5504688" y="1463040"/>
            <a:ext cx="1536192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KPI text 3"/>
          <p:cNvSpPr txBox="1"/>
          <p:nvPr/>
        </p:nvSpPr>
        <p:spPr>
          <a:xfrm>
            <a:off x="5596128" y="1463040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5Y Revenue CAGR</a:t>
            </a:r>
            <a:endParaRPr lang="en-US" sz="1500" dirty="0"/>
          </a:p>
        </p:txBody>
      </p:sp>
      <p:sp>
        <p:nvSpPr>
          <p:cNvPr id="12" name="KPI 4"/>
          <p:cNvSpPr/>
          <p:nvPr/>
        </p:nvSpPr>
        <p:spPr>
          <a:xfrm>
            <a:off x="7187184" y="1463040"/>
            <a:ext cx="1536192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KPI text 4"/>
          <p:cNvSpPr txBox="1"/>
          <p:nvPr/>
        </p:nvSpPr>
        <p:spPr>
          <a:xfrm>
            <a:off x="7278624" y="1463040"/>
            <a:ext cx="13533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Debt-Free Universe</a:t>
            </a:r>
            <a:endParaRPr lang="en-US" sz="1500" dirty="0"/>
          </a:p>
        </p:txBody>
      </p:sp>
      <p:sp>
        <p:nvSpPr>
          <p:cNvPr id="14" name="Panel 0"/>
          <p:cNvSpPr/>
          <p:nvPr/>
        </p:nvSpPr>
        <p:spPr>
          <a:xfrm>
            <a:off x="457200" y="288036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PanelTitle 0"/>
          <p:cNvSpPr txBox="1"/>
          <p:nvPr/>
        </p:nvSpPr>
        <p:spPr>
          <a:xfrm>
            <a:off x="731520" y="3063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Dynamic Filtering</a:t>
            </a:r>
            <a:endParaRPr lang="en-US" sz="2000" dirty="0"/>
          </a:p>
        </p:txBody>
      </p:sp>
      <p:sp>
        <p:nvSpPr>
          <p:cNvPr id="16" name="PanelBody 0"/>
          <p:cNvSpPr txBox="1"/>
          <p:nvPr/>
        </p:nvSpPr>
        <p:spPr>
          <a:xfrm>
            <a:off x="731520" y="3520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Multi-year historical selection (2019–2024).</a:t>
            </a:r>
            <a:endParaRPr lang="en-US" sz="1500" dirty="0"/>
          </a:p>
        </p:txBody>
      </p:sp>
      <p:sp>
        <p:nvSpPr>
          <p:cNvPr id="17" name="Panel 1"/>
          <p:cNvSpPr/>
          <p:nvPr/>
        </p:nvSpPr>
        <p:spPr>
          <a:xfrm>
            <a:off x="4663440" y="2880360"/>
            <a:ext cx="4023360" cy="1463040"/>
          </a:xfrm>
          <a:prstGeom prst="roundRect">
            <a:avLst>
              <a:gd name="adj" fmla="val 75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8" name="PanelTitle 1"/>
          <p:cNvSpPr txBox="1"/>
          <p:nvPr/>
        </p:nvSpPr>
        <p:spPr>
          <a:xfrm>
            <a:off x="4937760" y="3063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Sector Weightings</a:t>
            </a:r>
            <a:endParaRPr lang="en-US" sz="2000" dirty="0"/>
          </a:p>
        </p:txBody>
      </p:sp>
      <p:sp>
        <p:nvSpPr>
          <p:cNvPr id="19" name="PanelBody 1"/>
          <p:cNvSpPr txBox="1"/>
          <p:nvPr/>
        </p:nvSpPr>
        <p:spPr>
          <a:xfrm>
            <a:off x="4937760" y="35204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</a:rPr>
              <a:t>Graphical distribution across all Nifty 100 sectors.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Deep-Dive Profile &amp; Trend Screens</a:t>
            </a:r>
            <a:endParaRPr lang="en-US" sz="3000" dirty="0"/>
          </a:p>
        </p:txBody>
      </p:sp>
      <p:sp>
        <p:nvSpPr>
          <p:cNvPr id="3" name="Screens label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02 PROFILE  ·  05 TRENDS</a:t>
            </a:r>
            <a:endParaRPr lang="en-US" sz="1200" dirty="0"/>
          </a:p>
        </p:txBody>
      </p:sp>
      <p:sp>
        <p:nvSpPr>
          <p:cNvPr id="4" name="Col 0"/>
          <p:cNvSpPr/>
          <p:nvPr/>
        </p:nvSpPr>
        <p:spPr>
          <a:xfrm>
            <a:off x="457200" y="155448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ag 0"/>
          <p:cNvSpPr txBox="1"/>
          <p:nvPr/>
        </p:nvSpPr>
        <p:spPr>
          <a:xfrm>
            <a:off x="685800" y="1783080"/>
            <a:ext cx="2103120" cy="36576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Revenue &amp; Profit</a:t>
            </a:r>
            <a:endParaRPr lang="en-US" sz="1200" dirty="0"/>
          </a:p>
        </p:txBody>
      </p:sp>
      <p:sp>
        <p:nvSpPr>
          <p:cNvPr id="6" name="ColTitle 0"/>
          <p:cNvSpPr txBox="1"/>
          <p:nvPr/>
        </p:nvSpPr>
        <p:spPr>
          <a:xfrm>
            <a:off x="685800" y="2331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Company Profile</a:t>
            </a:r>
            <a:endParaRPr lang="en-US" sz="2000" dirty="0"/>
          </a:p>
        </p:txBody>
      </p:sp>
      <p:sp>
        <p:nvSpPr>
          <p:cNvPr id="7" name="ColBody 0"/>
          <p:cNvSpPr txBox="1"/>
          <p:nvPr/>
        </p:nvSpPr>
        <p:spPr>
          <a:xfrm>
            <a:off x="685800" y="3108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10-year revenue and profit trajectory charts.</a:t>
            </a:r>
            <a:endParaRPr lang="en-US" sz="1500" dirty="0"/>
          </a:p>
        </p:txBody>
      </p:sp>
      <p:sp>
        <p:nvSpPr>
          <p:cNvPr id="8" name="Col 1"/>
          <p:cNvSpPr/>
          <p:nvPr/>
        </p:nvSpPr>
        <p:spPr>
          <a:xfrm>
            <a:off x="3291840" y="155448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ag 1"/>
          <p:cNvSpPr txBox="1"/>
          <p:nvPr/>
        </p:nvSpPr>
        <p:spPr>
          <a:xfrm>
            <a:off x="3520440" y="1783080"/>
            <a:ext cx="2103120" cy="36576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OPM · NPM · ROCE</a:t>
            </a:r>
            <a:endParaRPr lang="en-US" sz="1200" dirty="0"/>
          </a:p>
        </p:txBody>
      </p:sp>
      <p:sp>
        <p:nvSpPr>
          <p:cNvPr id="10" name="ColTitle 1"/>
          <p:cNvSpPr txBox="1"/>
          <p:nvPr/>
        </p:nvSpPr>
        <p:spPr>
          <a:xfrm>
            <a:off x="3520440" y="2331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Margin Analysis</a:t>
            </a:r>
            <a:endParaRPr lang="en-US" sz="2000" dirty="0"/>
          </a:p>
        </p:txBody>
      </p:sp>
      <p:sp>
        <p:nvSpPr>
          <p:cNvPr id="11" name="ColBody 1"/>
          <p:cNvSpPr txBox="1"/>
          <p:nvPr/>
        </p:nvSpPr>
        <p:spPr>
          <a:xfrm>
            <a:off x="3520440" y="3108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OPM, NPM, and ROCE historical trend lines.</a:t>
            </a:r>
            <a:endParaRPr lang="en-US" sz="1500" dirty="0"/>
          </a:p>
        </p:txBody>
      </p:sp>
      <p:sp>
        <p:nvSpPr>
          <p:cNvPr id="12" name="Col 2"/>
          <p:cNvSpPr/>
          <p:nvPr/>
        </p:nvSpPr>
        <p:spPr>
          <a:xfrm>
            <a:off x="6126480" y="155448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ag 2"/>
          <p:cNvSpPr txBox="1"/>
          <p:nvPr/>
        </p:nvSpPr>
        <p:spPr>
          <a:xfrm>
            <a:off x="6355080" y="1783080"/>
            <a:ext cx="2103120" cy="36576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Stacked Liabilities</a:t>
            </a:r>
            <a:endParaRPr lang="en-US" sz="1200" dirty="0"/>
          </a:p>
        </p:txBody>
      </p:sp>
      <p:sp>
        <p:nvSpPr>
          <p:cNvPr id="14" name="ColTitle 2"/>
          <p:cNvSpPr txBox="1"/>
          <p:nvPr/>
        </p:nvSpPr>
        <p:spPr>
          <a:xfrm>
            <a:off x="6355080" y="23317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Balance Sheet Composition</a:t>
            </a:r>
            <a:endParaRPr lang="en-US" sz="2000" dirty="0"/>
          </a:p>
        </p:txBody>
      </p:sp>
      <p:sp>
        <p:nvSpPr>
          <p:cNvPr id="15" name="ColBody 2"/>
          <p:cNvSpPr txBox="1"/>
          <p:nvPr/>
        </p:nvSpPr>
        <p:spPr>
          <a:xfrm>
            <a:off x="6355080" y="31089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Visual stacked liabilities and capital structure.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Advanced Screener &amp; Peer Comparison</a:t>
            </a:r>
            <a:endParaRPr lang="en-US" sz="3000" dirty="0"/>
          </a:p>
        </p:txBody>
      </p:sp>
      <p:sp>
        <p:nvSpPr>
          <p:cNvPr id="3" name="Screens label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03 SCREENER  ·  04 PEERS</a:t>
            </a:r>
            <a:endParaRPr lang="en-US" sz="1200" dirty="0"/>
          </a:p>
        </p:txBody>
      </p:sp>
      <p:sp>
        <p:nvSpPr>
          <p:cNvPr id="4" name="Stat 0"/>
          <p:cNvSpPr/>
          <p:nvPr/>
        </p:nvSpPr>
        <p:spPr>
          <a:xfrm>
            <a:off x="457200" y="1554480"/>
            <a:ext cx="25603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tatNum 0"/>
          <p:cNvSpPr txBox="1"/>
          <p:nvPr/>
        </p:nvSpPr>
        <p:spPr>
          <a:xfrm>
            <a:off x="685800" y="16459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6" name="StatTitle 0"/>
          <p:cNvSpPr txBox="1"/>
          <p:nvPr/>
        </p:nvSpPr>
        <p:spPr>
          <a:xfrm>
            <a:off x="685800" y="2423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Interactive sliders</a:t>
            </a:r>
            <a:endParaRPr lang="en-US" sz="1600" dirty="0"/>
          </a:p>
        </p:txBody>
      </p:sp>
      <p:sp>
        <p:nvSpPr>
          <p:cNvPr id="7" name="StatDesc 0"/>
          <p:cNvSpPr txBox="1"/>
          <p:nvPr/>
        </p:nvSpPr>
        <p:spPr>
          <a:xfrm>
            <a:off x="68580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Parametric filtering with live result updates</a:t>
            </a:r>
            <a:endParaRPr lang="en-US" sz="1200" dirty="0"/>
          </a:p>
        </p:txBody>
      </p:sp>
      <p:sp>
        <p:nvSpPr>
          <p:cNvPr id="8" name="Stat 1"/>
          <p:cNvSpPr/>
          <p:nvPr/>
        </p:nvSpPr>
        <p:spPr>
          <a:xfrm>
            <a:off x="3291840" y="1554480"/>
            <a:ext cx="25603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atNum 1"/>
          <p:cNvSpPr txBox="1"/>
          <p:nvPr/>
        </p:nvSpPr>
        <p:spPr>
          <a:xfrm>
            <a:off x="3520440" y="16459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10" name="StatTitle 1"/>
          <p:cNvSpPr txBox="1"/>
          <p:nvPr/>
        </p:nvSpPr>
        <p:spPr>
          <a:xfrm>
            <a:off x="3520440" y="2423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Instant presets</a:t>
            </a:r>
            <a:endParaRPr lang="en-US" sz="1600" dirty="0"/>
          </a:p>
        </p:txBody>
      </p:sp>
      <p:sp>
        <p:nvSpPr>
          <p:cNvPr id="11" name="StatDesc 1"/>
          <p:cNvSpPr txBox="1"/>
          <p:nvPr/>
        </p:nvSpPr>
        <p:spPr>
          <a:xfrm>
            <a:off x="352044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One-click screening strategies</a:t>
            </a:r>
            <a:endParaRPr lang="en-US" sz="1200" dirty="0"/>
          </a:p>
        </p:txBody>
      </p:sp>
      <p:sp>
        <p:nvSpPr>
          <p:cNvPr id="12" name="Stat 2"/>
          <p:cNvSpPr/>
          <p:nvPr/>
        </p:nvSpPr>
        <p:spPr>
          <a:xfrm>
            <a:off x="6126480" y="1554480"/>
            <a:ext cx="256032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Num 2"/>
          <p:cNvSpPr txBox="1"/>
          <p:nvPr/>
        </p:nvSpPr>
        <p:spPr>
          <a:xfrm>
            <a:off x="6355080" y="16459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400" dirty="0"/>
          </a:p>
        </p:txBody>
      </p:sp>
      <p:sp>
        <p:nvSpPr>
          <p:cNvPr id="14" name="StatTitle 2"/>
          <p:cNvSpPr txBox="1"/>
          <p:nvPr/>
        </p:nvSpPr>
        <p:spPr>
          <a:xfrm>
            <a:off x="6355080" y="2423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Industry cohorts</a:t>
            </a:r>
            <a:endParaRPr lang="en-US" sz="1600" dirty="0"/>
          </a:p>
        </p:txBody>
      </p:sp>
      <p:sp>
        <p:nvSpPr>
          <p:cNvPr id="15" name="StatDesc 2"/>
          <p:cNvSpPr txBox="1"/>
          <p:nvPr/>
        </p:nvSpPr>
        <p:spPr>
          <a:xfrm>
            <a:off x="635508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Peer radar benchmarking</a:t>
            </a:r>
            <a:endParaRPr lang="en-US" sz="1200" dirty="0"/>
          </a:p>
        </p:txBody>
      </p:sp>
      <p:sp>
        <p:nvSpPr>
          <p:cNvPr id="16" name="Presets label"/>
          <p:cNvSpPr txBox="1"/>
          <p:nvPr/>
        </p:nvSpPr>
        <p:spPr>
          <a:xfrm>
            <a:off x="45720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PRESETS</a:t>
            </a:r>
            <a:endParaRPr lang="en-US" sz="1200" dirty="0"/>
          </a:p>
        </p:txBody>
      </p:sp>
      <p:sp>
        <p:nvSpPr>
          <p:cNvPr id="17" name="Chip Quality"/>
          <p:cNvSpPr txBox="1"/>
          <p:nvPr/>
        </p:nvSpPr>
        <p:spPr>
          <a:xfrm>
            <a:off x="457200" y="3931920"/>
            <a:ext cx="1280160" cy="411480"/>
          </a:xfrm>
          <a:prstGeom prst="roundRect">
            <a:avLst>
              <a:gd name="adj" fmla="val 44444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Quality</a:t>
            </a:r>
            <a:endParaRPr lang="en-US" sz="1400" dirty="0"/>
          </a:p>
        </p:txBody>
      </p:sp>
      <p:sp>
        <p:nvSpPr>
          <p:cNvPr id="18" name="Chip Value"/>
          <p:cNvSpPr txBox="1"/>
          <p:nvPr/>
        </p:nvSpPr>
        <p:spPr>
          <a:xfrm>
            <a:off x="1874520" y="3931920"/>
            <a:ext cx="1280160" cy="411480"/>
          </a:xfrm>
          <a:prstGeom prst="roundRect">
            <a:avLst>
              <a:gd name="adj" fmla="val 44444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Value</a:t>
            </a:r>
            <a:endParaRPr lang="en-US" sz="1400" dirty="0"/>
          </a:p>
        </p:txBody>
      </p:sp>
      <p:sp>
        <p:nvSpPr>
          <p:cNvPr id="19" name="Chip Growth"/>
          <p:cNvSpPr txBox="1"/>
          <p:nvPr/>
        </p:nvSpPr>
        <p:spPr>
          <a:xfrm>
            <a:off x="3291840" y="3931920"/>
            <a:ext cx="1280160" cy="411480"/>
          </a:xfrm>
          <a:prstGeom prst="roundRect">
            <a:avLst>
              <a:gd name="adj" fmla="val 44444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Growth</a:t>
            </a:r>
            <a:endParaRPr lang="en-US" sz="1400" dirty="0"/>
          </a:p>
        </p:txBody>
      </p:sp>
      <p:sp>
        <p:nvSpPr>
          <p:cNvPr id="20" name="Chip Dividend"/>
          <p:cNvSpPr txBox="1"/>
          <p:nvPr/>
        </p:nvSpPr>
        <p:spPr>
          <a:xfrm>
            <a:off x="4709160" y="3931920"/>
            <a:ext cx="1280160" cy="411480"/>
          </a:xfrm>
          <a:prstGeom prst="roundRect">
            <a:avLst>
              <a:gd name="adj" fmla="val 44444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Dividend</a:t>
            </a:r>
            <a:endParaRPr lang="en-US" sz="1400" dirty="0"/>
          </a:p>
        </p:txBody>
      </p:sp>
      <p:sp>
        <p:nvSpPr>
          <p:cNvPr id="21" name="Chip Debt-Free"/>
          <p:cNvSpPr txBox="1"/>
          <p:nvPr/>
        </p:nvSpPr>
        <p:spPr>
          <a:xfrm>
            <a:off x="6126480" y="3931920"/>
            <a:ext cx="1280160" cy="411480"/>
          </a:xfrm>
          <a:prstGeom prst="roundRect">
            <a:avLst>
              <a:gd name="adj" fmla="val 44444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Debt-Free</a:t>
            </a:r>
            <a:endParaRPr lang="en-US" sz="1400" dirty="0"/>
          </a:p>
        </p:txBody>
      </p:sp>
      <p:sp>
        <p:nvSpPr>
          <p:cNvPr id="22" name="Chip Turnaround"/>
          <p:cNvSpPr txBox="1"/>
          <p:nvPr/>
        </p:nvSpPr>
        <p:spPr>
          <a:xfrm>
            <a:off x="7543800" y="3931920"/>
            <a:ext cx="1280160" cy="411480"/>
          </a:xfrm>
          <a:prstGeom prst="roundRect">
            <a:avLst>
              <a:gd name="adj" fmla="val 44444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Turnaround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Valuation Engine Methodology (Module 6)</a:t>
            </a:r>
            <a:endParaRPr lang="en-US" sz="3000" dirty="0"/>
          </a:p>
        </p:txBody>
      </p:sp>
      <p:sp>
        <p:nvSpPr>
          <p:cNvPr id="3" name="Method 0"/>
          <p:cNvSpPr/>
          <p:nvPr/>
        </p:nvSpPr>
        <p:spPr>
          <a:xfrm>
            <a:off x="457200" y="1188720"/>
            <a:ext cx="39319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ethodTitle 0"/>
          <p:cNvSpPr txBox="1"/>
          <p:nvPr/>
        </p:nvSpPr>
        <p:spPr>
          <a:xfrm>
            <a:off x="685800" y="12984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Relative Valuation</a:t>
            </a:r>
            <a:endParaRPr lang="en-US" sz="1800" dirty="0"/>
          </a:p>
        </p:txBody>
      </p:sp>
      <p:sp>
        <p:nvSpPr>
          <p:cNvPr id="5" name="MethodBody 0"/>
          <p:cNvSpPr txBox="1"/>
          <p:nvPr/>
        </p:nvSpPr>
        <p:spPr>
          <a:xfrm>
            <a:off x="685800" y="169164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Company P/E benchmarked against its 5-Year Historical Median and the Sector Median.</a:t>
            </a:r>
            <a:endParaRPr lang="en-US" sz="1400" dirty="0"/>
          </a:p>
        </p:txBody>
      </p:sp>
      <p:sp>
        <p:nvSpPr>
          <p:cNvPr id="6" name="Method 1"/>
          <p:cNvSpPr/>
          <p:nvPr/>
        </p:nvSpPr>
        <p:spPr>
          <a:xfrm>
            <a:off x="457200" y="2514600"/>
            <a:ext cx="39319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MethodTitle 1"/>
          <p:cNvSpPr txBox="1"/>
          <p:nvPr/>
        </p:nvSpPr>
        <p:spPr>
          <a:xfrm>
            <a:off x="685800" y="26243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Cash Flow Yield</a:t>
            </a:r>
            <a:endParaRPr lang="en-US" sz="1800" dirty="0"/>
          </a:p>
        </p:txBody>
      </p:sp>
      <p:sp>
        <p:nvSpPr>
          <p:cNvPr id="8" name="MethodBody 1"/>
          <p:cNvSpPr txBox="1"/>
          <p:nvPr/>
        </p:nvSpPr>
        <p:spPr>
          <a:xfrm>
            <a:off x="685800" y="3017520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Free Cash Flow (FCF) yield relative to market capitalization.</a:t>
            </a:r>
            <a:endParaRPr lang="en-US" sz="1400" dirty="0"/>
          </a:p>
        </p:txBody>
      </p:sp>
      <p:sp>
        <p:nvSpPr>
          <p:cNvPr id="9" name="Rule label"/>
          <p:cNvSpPr txBox="1"/>
          <p:nvPr/>
        </p:nvSpPr>
        <p:spPr>
          <a:xfrm>
            <a:off x="457200" y="3886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Rule: P/E vs sector median</a:t>
            </a:r>
            <a:endParaRPr lang="en-US" sz="1200" dirty="0"/>
          </a:p>
        </p:txBody>
      </p:sp>
      <p:sp>
        <p:nvSpPr>
          <p:cNvPr id="10" name="Flag Discount"/>
          <p:cNvSpPr txBox="1"/>
          <p:nvPr/>
        </p:nvSpPr>
        <p:spPr>
          <a:xfrm>
            <a:off x="457200" y="4206240"/>
            <a:ext cx="1280160" cy="36576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Discount  &lt; 0.7×</a:t>
            </a:r>
            <a:endParaRPr lang="en-US" sz="1200" dirty="0"/>
          </a:p>
        </p:txBody>
      </p:sp>
      <p:sp>
        <p:nvSpPr>
          <p:cNvPr id="11" name="Flag Fair"/>
          <p:cNvSpPr txBox="1"/>
          <p:nvPr/>
        </p:nvSpPr>
        <p:spPr>
          <a:xfrm>
            <a:off x="1801368" y="4206240"/>
            <a:ext cx="1280160" cy="365760"/>
          </a:xfrm>
          <a:prstGeom prst="roundRect">
            <a:avLst>
              <a:gd name="adj" fmla="val 375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Fair  0.7× – 1.5×</a:t>
            </a:r>
            <a:endParaRPr lang="en-US" sz="1200" dirty="0"/>
          </a:p>
        </p:txBody>
      </p:sp>
      <p:sp>
        <p:nvSpPr>
          <p:cNvPr id="12" name="Flag Caution"/>
          <p:cNvSpPr txBox="1"/>
          <p:nvPr/>
        </p:nvSpPr>
        <p:spPr>
          <a:xfrm>
            <a:off x="3145536" y="4206240"/>
            <a:ext cx="1280160" cy="365760"/>
          </a:xfrm>
          <a:prstGeom prst="roundRect">
            <a:avLst>
              <a:gd name="adj" fmla="val 375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Caution  &gt; 1.5×</a:t>
            </a:r>
            <a:endParaRPr lang="en-US" sz="1200" dirty="0"/>
          </a:p>
        </p:txBody>
      </p:sp>
      <p:graphicFrame>
        <p:nvGraphicFramePr>
          <p:cNvPr id="13" name="Flag chart" descr=""/>
          <p:cNvGraphicFramePr/>
          <p:nvPr/>
        </p:nvGraphicFramePr>
        <p:xfrm>
          <a:off x="4663440" y="1188720"/>
          <a:ext cx="40233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F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640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Verification &amp; Acceptance Sign-Off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1554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All Sprint 4 deliverables tested and accepted.</a:t>
            </a:r>
            <a:endParaRPr lang="en-US" sz="1800" dirty="0"/>
          </a:p>
        </p:txBody>
      </p:sp>
      <p:sp>
        <p:nvSpPr>
          <p:cNvPr id="4" name="Sign 0"/>
          <p:cNvSpPr/>
          <p:nvPr/>
        </p:nvSpPr>
        <p:spPr>
          <a:xfrm>
            <a:off x="640080" y="2743200"/>
            <a:ext cx="246888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ignNum 0"/>
          <p:cNvSpPr txBox="1"/>
          <p:nvPr/>
        </p:nvSpPr>
        <p:spPr>
          <a:xfrm>
            <a:off x="822960" y="2880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6" name="SignDesc 0"/>
          <p:cNvSpPr txBox="1"/>
          <p:nvPr/>
        </p:nvSpPr>
        <p:spPr>
          <a:xfrm>
            <a:off x="822960" y="3657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Dashboard screens tested &amp; operational</a:t>
            </a:r>
            <a:endParaRPr lang="en-US" sz="1300" dirty="0"/>
          </a:p>
        </p:txBody>
      </p:sp>
      <p:sp>
        <p:nvSpPr>
          <p:cNvPr id="7" name="Sign 1"/>
          <p:cNvSpPr/>
          <p:nvPr/>
        </p:nvSpPr>
        <p:spPr>
          <a:xfrm>
            <a:off x="3337560" y="2743200"/>
            <a:ext cx="246888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SignNum 1"/>
          <p:cNvSpPr txBox="1"/>
          <p:nvPr/>
        </p:nvSpPr>
        <p:spPr>
          <a:xfrm>
            <a:off x="3520440" y="2880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</a:t>
            </a:r>
            <a:endParaRPr lang="en-US" sz="4000" dirty="0"/>
          </a:p>
        </p:txBody>
      </p:sp>
      <p:sp>
        <p:nvSpPr>
          <p:cNvPr id="9" name="SignDesc 1"/>
          <p:cNvSpPr txBox="1"/>
          <p:nvPr/>
        </p:nvSpPr>
        <p:spPr>
          <a:xfrm>
            <a:off x="3520440" y="3657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Rows in valuation_summary.xlsx (plus valuation_flags.csv)</a:t>
            </a:r>
            <a:endParaRPr lang="en-US" sz="1300" dirty="0"/>
          </a:p>
        </p:txBody>
      </p:sp>
      <p:sp>
        <p:nvSpPr>
          <p:cNvPr id="10" name="Sign 2"/>
          <p:cNvSpPr/>
          <p:nvPr/>
        </p:nvSpPr>
        <p:spPr>
          <a:xfrm>
            <a:off x="6035040" y="2743200"/>
            <a:ext cx="2468880" cy="1554480"/>
          </a:xfrm>
          <a:prstGeom prst="roundRect">
            <a:avLst>
              <a:gd name="adj" fmla="val 705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SignNum 2"/>
          <p:cNvSpPr txBox="1"/>
          <p:nvPr/>
        </p:nvSpPr>
        <p:spPr>
          <a:xfrm>
            <a:off x="6217920" y="2880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SignDesc 2"/>
          <p:cNvSpPr txBox="1"/>
          <p:nvPr/>
        </p:nvSpPr>
        <p:spPr>
          <a:xfrm>
            <a:off x="6217920" y="36576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Regressions across the full test suite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fty100 Sprint4">
  <a:themeElements>
    <a:clrScheme name="Nifty100 Sprint4">
      <a:dk1>
        <a:srgbClr val="0B2530"/>
      </a:dk1>
      <a:lt1>
        <a:srgbClr val="FFFFFF"/>
      </a:lt1>
      <a:dk2>
        <a:srgbClr val="12384A"/>
      </a:dk2>
      <a:lt2>
        <a:srgbClr val="EAF2F4"/>
      </a:lt2>
      <a:accent1>
        <a:srgbClr val="0E8C84"/>
      </a:accent1>
      <a:accent2>
        <a:srgbClr val="E0A030"/>
      </a:accent2>
      <a:accent3>
        <a:srgbClr val="7A8F99"/>
      </a:accent3>
      <a:accent4>
        <a:srgbClr val="2F6F9F"/>
      </a:accent4>
      <a:accent5>
        <a:srgbClr val="D9534F"/>
      </a:accent5>
      <a:accent6>
        <a:srgbClr val="5BB5AE"/>
      </a:accent6>
      <a:hlink>
        <a:srgbClr val="0E8C84"/>
      </a:hlink>
      <a:folHlink>
        <a:srgbClr val="7A8F99"/>
      </a:folHlink>
    </a:clrScheme>
    <a:fontScheme name="Nifty100 Sprint4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Nifty 100 Financial Intelligence — Sprint 4 Delivery</dc:title>
  <dc:subject>PptxGenJS Presentation</dc:subject>
  <dc:creator>PptxGenJS</dc:creator>
  <cp:lastModifiedBy>PptxGenJS</cp:lastModifiedBy>
  <cp:revision>1</cp:revision>
  <dcterms:created xsi:type="dcterms:W3CDTF">2026-10-27T13:05:51Z</dcterms:created>
  <dcterms:modified xsi:type="dcterms:W3CDTF">2026-10-27T13:05:51Z</dcterms:modified>
</cp:coreProperties>
</file>