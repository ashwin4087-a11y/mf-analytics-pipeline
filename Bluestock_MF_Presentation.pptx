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Final Presentation</a:t>
            </a:r>
          </a:p>
          <a:p>
            <a:r>
              <a:t>Analytics Team</a:t>
            </a:r>
          </a:p>
          <a:p>
            <a: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 Fragmented, raw mutual fund data lacks actionable insights.</a:t>
            </a:r>
          </a:p>
          <a:p>
            <a:pPr lvl="1"/>
            <a:r>
              <a:t>Objectives:</a:t>
            </a:r>
          </a:p>
          <a:p>
            <a:pPr lvl="2"/>
            <a:r>
              <a:t>Build an automated ETL pipeline</a:t>
            </a:r>
          </a:p>
          <a:p>
            <a:pPr lvl="2"/>
            <a:r>
              <a:t>Calculate performance (Sharpe, Alpha) &amp; risk (VaR) metrics</a:t>
            </a:r>
          </a:p>
          <a:p>
            <a:pPr lvl="1"/>
            <a:r>
              <a:t>Why it matters: Empowers data-driven investment decisions rather than emotion-based trading.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Datasets Integrated:</a:t>
            </a:r>
          </a:p>
          <a:p>
            <a:r>
              <a:t>1. Scheme Master &amp; NAV (Daily tracking)</a:t>
            </a:r>
          </a:p>
          <a:p>
            <a:r>
              <a:t>2. Benchmark Indices (NIFTY 50, NIFTY 100)</a:t>
            </a:r>
          </a:p>
          <a:p>
            <a:r>
              <a:t>3. AUM &amp; SIP Inflows</a:t>
            </a:r>
          </a:p>
          <a:p>
            <a:r>
              <a:t>4. Investor Demographics &amp; Transactions</a:t>
            </a:r>
          </a:p>
          <a:p>
            <a:r>
              <a:t>Data Coverage: Highly granular daily data covering multiple market cycles, enabling deep quantitative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&amp;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Flow:</a:t>
            </a:r>
          </a:p>
          <a:p>
            <a:r>
              <a:t>Raw CSVs -&gt; Pandas Cleaning -&gt; SQLite Database -&gt; Jupyter/Python Analytics -&gt; Power BI</a:t>
            </a:r>
          </a:p>
          <a:p>
            <a:r>
              <a:t>Key Transformations:</a:t>
            </a:r>
          </a:p>
          <a:p>
            <a:pPr lvl="1"/>
            <a:r>
              <a:t>Date standardization</a:t>
            </a:r>
          </a:p>
          <a:p>
            <a:pPr lvl="1"/>
            <a:r>
              <a:t>NAV forward-filling (excluding weekends for return calcs)</a:t>
            </a:r>
          </a:p>
          <a:p>
            <a:pPr lvl="1"/>
            <a:r>
              <a:t>Star Schema creation (Fact &amp; Dim tables)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I: Demographics</a:t>
            </a:r>
          </a:p>
        </p:txBody>
      </p:sp>
      <p:pic>
        <p:nvPicPr>
          <p:cNvPr id="3" name="Picture 2" descr="06_ag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8288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Insight:</a:t>
            </a:r>
          </a:p>
          <a:p>
            <a:r>
              <a:t>- '26-35' age group dominates (40.7%)</a:t>
            </a:r>
          </a:p>
          <a:p>
            <a:r>
              <a:t>- Mutual fund adoption is heavily driven by younger, working-age adults.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II: Risk vs Return</a:t>
            </a:r>
          </a:p>
        </p:txBody>
      </p:sp>
      <p:pic>
        <p:nvPicPr>
          <p:cNvPr id="3" name="Picture 2" descr="18_risk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4114800" cy="25157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8288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Insight:</a:t>
            </a:r>
          </a:p>
          <a:p>
            <a:r>
              <a:t>- Classic risk-reward trade-off is visible.</a:t>
            </a:r>
          </a:p>
          <a:p>
            <a:r>
              <a:t>- Some funds achieve higher returns without proportionally higher standard deviation (better Sharpe).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&amp; Risk Evaluated:</a:t>
            </a:r>
          </a:p>
          <a:p>
            <a:r>
              <a:t>- CAGR computed for 1, 3, and 5-year horizons.</a:t>
            </a:r>
          </a:p>
          <a:p>
            <a:r>
              <a:t>- Sharpe Ratio calculated against a 6.5% Risk-Free Rate.</a:t>
            </a:r>
          </a:p>
          <a:p>
            <a:r>
              <a:t>- Sortino Ratio utilized to specifically isolate downside volatility.</a:t>
            </a:r>
          </a:p>
          <a:p>
            <a:r>
              <a:t>- Finding: High absolute returns do not always correlate with high risk-adjusted returns.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 II</a:t>
            </a:r>
          </a:p>
        </p:txBody>
      </p:sp>
      <p:pic>
        <p:nvPicPr>
          <p:cNvPr id="3" name="Picture 2" descr="benchmark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72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828800"/>
            <a:ext cx="3200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Alpha &amp; Benchmarking:</a:t>
            </a:r>
          </a:p>
          <a:p>
            <a:r>
              <a:t>- Top 5 Scorecard funds successfully beat NIFTY 100.</a:t>
            </a:r>
          </a:p>
          <a:p>
            <a:r>
              <a:t>- Maximum drawdown metrics identified funds vulnerable to severe market corrections.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(Overview &amp; Performance)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Pages 1 &amp; 2:</a:t>
            </a:r>
          </a:p>
          <a:p>
            <a:r>
              <a:t>Overview Page: High-level KPI aggregations including Total AUM, overall SIP inflows, and top-line investor counts.</a:t>
            </a:r>
          </a:p>
          <a:p>
            <a:r>
              <a:t>Fund Performance Page: Drill-down into specific scheme CAGRs, Sharpe ratios, and our custom composite Scorecard.</a:t>
            </a:r>
          </a:p>
          <a:p>
            <a:r>
              <a:t>[Note: Dashboard deployed via bluestock_mf.pbix]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(NAV &amp; Trends)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Pages 3 &amp; 4:</a:t>
            </a:r>
          </a:p>
          <a:p>
            <a:r>
              <a:t>NAV Details Page: Interactive time-series visualisations allowing dynamic date slicing of historical NAV trends.</a:t>
            </a:r>
          </a:p>
          <a:p>
            <a:r>
              <a:t>SIP &amp; Market Trends Page: Visual heatmaps of category inflows and cohort behavioral analytics.</a:t>
            </a:r>
          </a:p>
          <a:p>
            <a:r>
              <a:t>All pages include cross-filtering and dynamic slicers for intuitive exploration.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Findings:</a:t>
            </a:r>
          </a:p>
          <a:p>
            <a:r>
              <a:t>Top funds exhibit significant sector concentration (High HHI).</a:t>
            </a:r>
          </a:p>
          <a:p>
            <a:r>
              <a:t>SIP continuity analysis reveals critical 'at-risk' investors with &gt;35 day gaps.</a:t>
            </a:r>
          </a:p>
          <a:p>
            <a:r>
              <a:t>Recommendations:</a:t>
            </a:r>
          </a:p>
          <a:p>
            <a:r>
              <a:t>Investors: Rely on the risk-adjusted Scorecard rather than chasing 1-year yield.</a:t>
            </a:r>
          </a:p>
          <a:p>
            <a:r>
              <a:t>Business: Trigger automated retention campaigns for at-risk SIP cohorts.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